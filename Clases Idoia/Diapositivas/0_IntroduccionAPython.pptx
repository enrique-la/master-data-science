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671" r:id="rId1"/>
  </p:sldMasterIdLst>
  <p:notesMasterIdLst>
    <p:notesMasterId r:id="rId26"/>
  </p:notesMasterIdLst>
  <p:handoutMasterIdLst>
    <p:handoutMasterId r:id="rId27"/>
  </p:handoutMasterIdLst>
  <p:sldIdLst>
    <p:sldId id="542" r:id="rId2"/>
    <p:sldId id="715" r:id="rId3"/>
    <p:sldId id="737" r:id="rId4"/>
    <p:sldId id="740" r:id="rId5"/>
    <p:sldId id="741" r:id="rId6"/>
    <p:sldId id="742" r:id="rId7"/>
    <p:sldId id="718" r:id="rId8"/>
    <p:sldId id="722" r:id="rId9"/>
    <p:sldId id="723" r:id="rId10"/>
    <p:sldId id="724" r:id="rId11"/>
    <p:sldId id="725" r:id="rId12"/>
    <p:sldId id="726" r:id="rId13"/>
    <p:sldId id="727" r:id="rId14"/>
    <p:sldId id="728" r:id="rId15"/>
    <p:sldId id="719" r:id="rId16"/>
    <p:sldId id="732" r:id="rId17"/>
    <p:sldId id="749" r:id="rId18"/>
    <p:sldId id="744" r:id="rId19"/>
    <p:sldId id="733" r:id="rId20"/>
    <p:sldId id="745" r:id="rId21"/>
    <p:sldId id="746" r:id="rId22"/>
    <p:sldId id="747" r:id="rId23"/>
    <p:sldId id="750" r:id="rId24"/>
    <p:sldId id="748" r:id="rId25"/>
  </p:sldIdLst>
  <p:sldSz cx="12192000" cy="6858000"/>
  <p:notesSz cx="6797675" cy="9926638"/>
  <p:embeddedFontLst>
    <p:embeddedFont>
      <p:font typeface="CommonBullets" panose="020B0603050302020204" pitchFamily="2"/>
      <p:regular r:id="rId28"/>
    </p:embeddedFont>
    <p:embeddedFont>
      <p:font typeface="Wingdings 3" pitchFamily="2" charset="2"/>
      <p:regular r:id="rId29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3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3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3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3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3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3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3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3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3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6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avello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2B34"/>
    <a:srgbClr val="972B35"/>
    <a:srgbClr val="0000FF"/>
    <a:srgbClr val="FFFF99"/>
    <a:srgbClr val="1E1C1C"/>
    <a:srgbClr val="660033"/>
    <a:srgbClr val="91004B"/>
    <a:srgbClr val="8B0F53"/>
    <a:srgbClr val="7E003F"/>
    <a:srgbClr val="EA00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4655AF-6CBB-447F-9719-72996FC3D8CD}" v="3" dt="2022-10-03T18:01:01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9186" autoAdjust="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>
        <p:guide orient="horz" pos="2160"/>
        <p:guide pos="36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2375" y="1581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Vitores Valcarcel Garcia" userId="75fa3b2b-e8d8-457c-99c1-6aec93d23656" providerId="ADAL" clId="{0A4655AF-6CBB-447F-9719-72996FC3D8CD}"/>
    <pc:docChg chg="undo custSel addSld delSld modSld">
      <pc:chgData name="Luis Vitores Valcarcel Garcia" userId="75fa3b2b-e8d8-457c-99c1-6aec93d23656" providerId="ADAL" clId="{0A4655AF-6CBB-447F-9719-72996FC3D8CD}" dt="2022-10-03T18:01:45.187" v="152"/>
      <pc:docMkLst>
        <pc:docMk/>
      </pc:docMkLst>
      <pc:sldChg chg="modSp mod">
        <pc:chgData name="Luis Vitores Valcarcel Garcia" userId="75fa3b2b-e8d8-457c-99c1-6aec93d23656" providerId="ADAL" clId="{0A4655AF-6CBB-447F-9719-72996FC3D8CD}" dt="2022-10-03T17:39:03.229" v="41" actId="20577"/>
        <pc:sldMkLst>
          <pc:docMk/>
          <pc:sldMk cId="0" sldId="542"/>
        </pc:sldMkLst>
        <pc:spChg chg="mod">
          <ac:chgData name="Luis Vitores Valcarcel Garcia" userId="75fa3b2b-e8d8-457c-99c1-6aec93d23656" providerId="ADAL" clId="{0A4655AF-6CBB-447F-9719-72996FC3D8CD}" dt="2022-10-03T17:39:03.229" v="41" actId="20577"/>
          <ac:spMkLst>
            <pc:docMk/>
            <pc:sldMk cId="0" sldId="542"/>
            <ac:spMk id="637957" creationId="{00000000-0000-0000-0000-000000000000}"/>
          </ac:spMkLst>
        </pc:spChg>
      </pc:sldChg>
      <pc:sldChg chg="del">
        <pc:chgData name="Luis Vitores Valcarcel Garcia" userId="75fa3b2b-e8d8-457c-99c1-6aec93d23656" providerId="ADAL" clId="{0A4655AF-6CBB-447F-9719-72996FC3D8CD}" dt="2022-10-03T17:56:56.596" v="43" actId="47"/>
        <pc:sldMkLst>
          <pc:docMk/>
          <pc:sldMk cId="3613306853" sldId="734"/>
        </pc:sldMkLst>
      </pc:sldChg>
      <pc:sldChg chg="add">
        <pc:chgData name="Luis Vitores Valcarcel Garcia" userId="75fa3b2b-e8d8-457c-99c1-6aec93d23656" providerId="ADAL" clId="{0A4655AF-6CBB-447F-9719-72996FC3D8CD}" dt="2022-10-03T17:56:54.905" v="42"/>
        <pc:sldMkLst>
          <pc:docMk/>
          <pc:sldMk cId="3427377238" sldId="735"/>
        </pc:sldMkLst>
      </pc:sldChg>
      <pc:sldChg chg="addSp delSp modSp add mod">
        <pc:chgData name="Luis Vitores Valcarcel Garcia" userId="75fa3b2b-e8d8-457c-99c1-6aec93d23656" providerId="ADAL" clId="{0A4655AF-6CBB-447F-9719-72996FC3D8CD}" dt="2022-10-03T18:01:45.187" v="152"/>
        <pc:sldMkLst>
          <pc:docMk/>
          <pc:sldMk cId="3568709792" sldId="736"/>
        </pc:sldMkLst>
        <pc:spChg chg="mod">
          <ac:chgData name="Luis Vitores Valcarcel Garcia" userId="75fa3b2b-e8d8-457c-99c1-6aec93d23656" providerId="ADAL" clId="{0A4655AF-6CBB-447F-9719-72996FC3D8CD}" dt="2022-10-03T17:59:34.749" v="81" actId="20577"/>
          <ac:spMkLst>
            <pc:docMk/>
            <pc:sldMk cId="3568709792" sldId="736"/>
            <ac:spMk id="2" creationId="{00000000-0000-0000-0000-000000000000}"/>
          </ac:spMkLst>
        </pc:spChg>
        <pc:spChg chg="add del mod">
          <ac:chgData name="Luis Vitores Valcarcel Garcia" userId="75fa3b2b-e8d8-457c-99c1-6aec93d23656" providerId="ADAL" clId="{0A4655AF-6CBB-447F-9719-72996FC3D8CD}" dt="2022-10-03T18:01:45.187" v="152"/>
          <ac:spMkLst>
            <pc:docMk/>
            <pc:sldMk cId="3568709792" sldId="736"/>
            <ac:spMk id="6" creationId="{A6315B9E-8359-F55B-DBA9-16DCFFDB9143}"/>
          </ac:spMkLst>
        </pc:spChg>
        <pc:spChg chg="add mod">
          <ac:chgData name="Luis Vitores Valcarcel Garcia" userId="75fa3b2b-e8d8-457c-99c1-6aec93d23656" providerId="ADAL" clId="{0A4655AF-6CBB-447F-9719-72996FC3D8CD}" dt="2022-10-03T18:01:44.795" v="150" actId="1076"/>
          <ac:spMkLst>
            <pc:docMk/>
            <pc:sldMk cId="3568709792" sldId="736"/>
            <ac:spMk id="7" creationId="{9BA7AF06-F247-0050-FFF5-73140D259851}"/>
          </ac:spMkLst>
        </pc:spChg>
        <pc:picChg chg="mod">
          <ac:chgData name="Luis Vitores Valcarcel Garcia" userId="75fa3b2b-e8d8-457c-99c1-6aec93d23656" providerId="ADAL" clId="{0A4655AF-6CBB-447F-9719-72996FC3D8CD}" dt="2022-10-03T18:01:40.555" v="149" actId="1076"/>
          <ac:picMkLst>
            <pc:docMk/>
            <pc:sldMk cId="3568709792" sldId="736"/>
            <ac:picMk id="3" creationId="{00000000-0000-0000-0000-000000000000}"/>
          </ac:picMkLst>
        </pc:picChg>
        <pc:picChg chg="del">
          <ac:chgData name="Luis Vitores Valcarcel Garcia" userId="75fa3b2b-e8d8-457c-99c1-6aec93d23656" providerId="ADAL" clId="{0A4655AF-6CBB-447F-9719-72996FC3D8CD}" dt="2022-10-03T17:59:46.285" v="82" actId="478"/>
          <ac:picMkLst>
            <pc:docMk/>
            <pc:sldMk cId="3568709792" sldId="736"/>
            <ac:picMk id="5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6563" cy="46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89" tIns="45943" rIns="91889" bIns="45943" numCol="1" anchor="t" anchorCtr="0" compatLnSpc="1">
            <a:prstTxWarp prst="textNoShape">
              <a:avLst/>
            </a:prstTxWarp>
          </a:bodyPr>
          <a:lstStyle>
            <a:lvl1pPr algn="l" defTabSz="919163" eaLnBrk="0" hangingPunct="0">
              <a:spcBef>
                <a:spcPct val="20000"/>
              </a:spcBef>
              <a:buClr>
                <a:srgbClr val="004186"/>
              </a:buClr>
              <a:buSzPct val="150000"/>
              <a:buFont typeface="CommonBullets" pitchFamily="34" charset="2"/>
              <a:buChar char="2"/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1"/>
            <a:ext cx="2978150" cy="46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89" tIns="45943" rIns="91889" bIns="45943" numCol="1" anchor="t" anchorCtr="0" compatLnSpc="1">
            <a:prstTxWarp prst="textNoShape">
              <a:avLst/>
            </a:prstTxWarp>
          </a:bodyPr>
          <a:lstStyle>
            <a:lvl1pPr algn="r" defTabSz="919163" eaLnBrk="0" hangingPunct="0">
              <a:spcBef>
                <a:spcPct val="20000"/>
              </a:spcBef>
              <a:buClr>
                <a:srgbClr val="004186"/>
              </a:buClr>
              <a:buSzPct val="150000"/>
              <a:buFont typeface="CommonBullets" pitchFamily="34" charset="2"/>
              <a:buChar char="2"/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9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0940"/>
            <a:ext cx="2976563" cy="458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89" tIns="45943" rIns="91889" bIns="45943" numCol="1" anchor="b" anchorCtr="0" compatLnSpc="1">
            <a:prstTxWarp prst="textNoShape">
              <a:avLst/>
            </a:prstTxWarp>
          </a:bodyPr>
          <a:lstStyle>
            <a:lvl1pPr algn="l" defTabSz="919163" eaLnBrk="0" hangingPunct="0">
              <a:spcBef>
                <a:spcPct val="20000"/>
              </a:spcBef>
              <a:buClr>
                <a:srgbClr val="004186"/>
              </a:buClr>
              <a:buSzPct val="150000"/>
              <a:buFont typeface="CommonBullets" pitchFamily="34" charset="2"/>
              <a:buChar char="2"/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9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440940"/>
            <a:ext cx="2978150" cy="458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89" tIns="45943" rIns="91889" bIns="45943" numCol="1" anchor="b" anchorCtr="0" compatLnSpc="1">
            <a:prstTxWarp prst="textNoShape">
              <a:avLst/>
            </a:prstTxWarp>
          </a:bodyPr>
          <a:lstStyle>
            <a:lvl1pPr algn="r" defTabSz="919163" eaLnBrk="0" hangingPunct="0">
              <a:spcBef>
                <a:spcPct val="20000"/>
              </a:spcBef>
              <a:buClr>
                <a:srgbClr val="004186"/>
              </a:buClr>
              <a:buSzPct val="150000"/>
              <a:buFont typeface="CommonBullets" pitchFamily="34" charset="2"/>
              <a:buChar char="2"/>
              <a:defRPr sz="1200"/>
            </a:lvl1pPr>
          </a:lstStyle>
          <a:p>
            <a:pPr>
              <a:defRPr/>
            </a:pPr>
            <a:fld id="{05537137-9CC0-4111-B725-0DEB028F3181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17576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6563" cy="46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81" tIns="45940" rIns="91881" bIns="45940" numCol="1" anchor="t" anchorCtr="0" compatLnSpc="1">
            <a:prstTxWarp prst="textNoShape">
              <a:avLst/>
            </a:prstTxWarp>
          </a:bodyPr>
          <a:lstStyle>
            <a:lvl1pPr algn="l" defTabSz="919163" eaLnBrk="0" hangingPunct="0">
              <a:spcBef>
                <a:spcPct val="20000"/>
              </a:spcBef>
              <a:buClr>
                <a:srgbClr val="004186"/>
              </a:buClr>
              <a:buSzPct val="150000"/>
              <a:buFont typeface="CommonBullets" pitchFamily="34" charset="2"/>
              <a:buChar char="2"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1"/>
            <a:ext cx="2978150" cy="46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81" tIns="45940" rIns="91881" bIns="45940" numCol="1" anchor="t" anchorCtr="0" compatLnSpc="1">
            <a:prstTxWarp prst="textNoShape">
              <a:avLst/>
            </a:prstTxWarp>
          </a:bodyPr>
          <a:lstStyle>
            <a:lvl1pPr algn="r" defTabSz="919163" eaLnBrk="0" hangingPunct="0">
              <a:spcBef>
                <a:spcPct val="20000"/>
              </a:spcBef>
              <a:buClr>
                <a:srgbClr val="004186"/>
              </a:buClr>
              <a:buSzPct val="150000"/>
              <a:buFont typeface="CommonBullets" pitchFamily="34" charset="2"/>
              <a:buChar char="2"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3" y="766763"/>
            <a:ext cx="6548437" cy="36845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8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9164" y="4679202"/>
            <a:ext cx="4956175" cy="452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81" tIns="45940" rIns="91881" bIns="459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8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940"/>
            <a:ext cx="2976563" cy="458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81" tIns="45940" rIns="91881" bIns="45940" numCol="1" anchor="b" anchorCtr="0" compatLnSpc="1">
            <a:prstTxWarp prst="textNoShape">
              <a:avLst/>
            </a:prstTxWarp>
          </a:bodyPr>
          <a:lstStyle>
            <a:lvl1pPr algn="l" defTabSz="919163" eaLnBrk="0" hangingPunct="0">
              <a:spcBef>
                <a:spcPct val="20000"/>
              </a:spcBef>
              <a:buClr>
                <a:srgbClr val="004186"/>
              </a:buClr>
              <a:buSzPct val="150000"/>
              <a:buFont typeface="CommonBullets" pitchFamily="34" charset="2"/>
              <a:buChar char="2"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440940"/>
            <a:ext cx="2978150" cy="458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81" tIns="45940" rIns="91881" bIns="45940" numCol="1" anchor="b" anchorCtr="0" compatLnSpc="1">
            <a:prstTxWarp prst="textNoShape">
              <a:avLst/>
            </a:prstTxWarp>
          </a:bodyPr>
          <a:lstStyle>
            <a:lvl1pPr algn="r" defTabSz="919163" eaLnBrk="0" hangingPunct="0">
              <a:spcBef>
                <a:spcPct val="20000"/>
              </a:spcBef>
              <a:buClr>
                <a:srgbClr val="004186"/>
              </a:buClr>
              <a:buSzPct val="150000"/>
              <a:buFont typeface="CommonBullets" pitchFamily="34" charset="2"/>
              <a:buChar char="2"/>
              <a:defRPr sz="1200"/>
            </a:lvl1pPr>
          </a:lstStyle>
          <a:p>
            <a:pPr>
              <a:defRPr/>
            </a:pPr>
            <a:fld id="{C2610E9F-D6B8-40DC-8A5C-BA29777AE1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976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45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11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86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7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16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65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11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01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27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51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023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467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36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893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9075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139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EEC63-5631-D407-91AA-6542E0CBE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197B5-03F9-2C8D-1DF0-7F0112BFA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1FBD5-19AC-6B88-F3F7-84555A2A0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39535-1909-0FDA-E625-B7AAAACC0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759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2197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074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1088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024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267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1F5AF-841D-5ECC-A806-220B3C07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F697FB-FE67-846C-7E4B-0ACF9CD10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05D52-F0A1-8AC2-2E01-B5EE9ECFB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CBFE4-C44A-A30E-5BE8-74F020D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06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413" y="766763"/>
            <a:ext cx="6548437" cy="36845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610E9F-D6B8-40DC-8A5C-BA29777AE1E2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54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89147-049E-4C8C-905B-8C3E60BFE047}" type="slidenum">
              <a:rPr lang="es-ES"/>
              <a:pPr>
                <a:defRPr/>
              </a:pPr>
              <a:t>‹#›</a:t>
            </a:fld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263525"/>
            <a:ext cx="11017809" cy="52863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C92E4-D456-403F-BD9B-E68121710A38}" type="datetimeFigureOut">
              <a:rPr lang="es-ES"/>
              <a:pPr>
                <a:defRPr/>
              </a:pPr>
              <a:t>2/10/25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1AD1B5-5EEE-49E5-86DE-D8600A1BA32C}" type="datetimeFigureOut">
              <a:rPr lang="es-ES"/>
              <a:pPr>
                <a:defRPr/>
              </a:pPr>
              <a:t>2/10/25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94824-E9F9-4896-80FC-C2B2F9FBD1A5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898" y="263525"/>
            <a:ext cx="9766300" cy="52863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s-E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09600" y="1355725"/>
            <a:ext cx="10972800" cy="47704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>
          <a:xfrm>
            <a:off x="746151" y="721695"/>
            <a:ext cx="8534400" cy="466345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s-E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C7250E-9744-4FAC-8DB1-C9FC4E3D1A78}" type="datetimeFigureOut">
              <a:rPr lang="es-ES"/>
              <a:pPr>
                <a:defRPr/>
              </a:pPr>
              <a:t>2/10/25</a:t>
            </a:fld>
            <a:endParaRPr lang="es-E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BE9B5E-BE09-4A02-9629-85D30A824AFE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263525"/>
            <a:ext cx="11017809" cy="5286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81777-0D14-43EA-AC6C-44C2BEA7D0E8}" type="datetimeFigureOut">
              <a:rPr lang="es-ES"/>
              <a:pPr>
                <a:defRPr/>
              </a:pPr>
              <a:t>2/10/25</a:t>
            </a:fld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3CDF7F-A84E-4054-9D9A-2E1023784E84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263525"/>
            <a:ext cx="11017809" cy="528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0D63A-5701-4ADB-B467-1E51941538DA}" type="datetimeFigureOut">
              <a:rPr lang="es-ES"/>
              <a:pPr>
                <a:defRPr/>
              </a:pPr>
              <a:t>2/10/25</a:t>
            </a:fld>
            <a:endParaRPr lang="es-E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00987C-0AC0-4837-B452-6F05A5080622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263525"/>
            <a:ext cx="11017809" cy="528638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s-E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2A6A58-FC85-4B2A-8F66-7460E7BBBF2B}" type="datetimeFigureOut">
              <a:rPr lang="es-ES"/>
              <a:pPr>
                <a:defRPr/>
              </a:pPr>
              <a:t>2/10/25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1A8A8-FE32-4206-A19C-081BF4AE46A1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DBBFC-55C6-4B2E-AC26-23B30CF8A966}" type="datetimeFigureOut">
              <a:rPr lang="es-ES"/>
              <a:pPr>
                <a:defRPr/>
              </a:pPr>
              <a:t>2/10/25</a:t>
            </a:fld>
            <a:endParaRPr lang="es-E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50840C-6310-452E-815C-0F446691B6D0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3D5BD0-61E1-4884-9C9C-934ADCEA4A92}" type="datetimeFigureOut">
              <a:rPr lang="es-ES"/>
              <a:pPr>
                <a:defRPr/>
              </a:pPr>
              <a:t>2/10/25</a:t>
            </a:fld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2796F2-3ABD-4DA9-9DD6-147909D18308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8E25F-2FED-47CD-8C6F-D2E85CE14AEC}" type="datetimeFigureOut">
              <a:rPr lang="es-ES"/>
              <a:pPr>
                <a:defRPr/>
              </a:pPr>
              <a:t>2/10/25</a:t>
            </a:fld>
            <a:endParaRPr lang="es-E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95C12-FC8D-4EEF-A634-1456476BE81E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1" y="263525"/>
            <a:ext cx="9768417" cy="5286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355725"/>
            <a:ext cx="5384800" cy="4770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55726"/>
            <a:ext cx="5384800" cy="2308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16351"/>
            <a:ext cx="5384800" cy="2309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919A6-CDE5-426B-9D56-518E37825D2D}" type="datetimeFigureOut">
              <a:rPr lang="es-ES"/>
              <a:pPr>
                <a:defRPr/>
              </a:pPr>
              <a:t>2/10/25</a:t>
            </a:fld>
            <a:endParaRPr lang="es-E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EB5B2C-77CC-40A0-8C5C-0CB4EA88854B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227138"/>
            <a:ext cx="10837333" cy="5148262"/>
          </a:xfrm>
        </p:spPr>
        <p:txBody>
          <a:bodyPr/>
          <a:lstStyle/>
          <a:p>
            <a:endParaRPr lang="es-ES"/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1905000" y="264163"/>
            <a:ext cx="9767361" cy="5276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6736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55725"/>
            <a:ext cx="10972800" cy="477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buClr>
                <a:srgbClr val="004186"/>
              </a:buClr>
              <a:buSzPct val="150000"/>
              <a:buFont typeface="CommonBullets" pitchFamily="34" charset="2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D3B2909-8E7A-4927-AB58-C09059849C08}" type="datetimeFigureOut">
              <a:rPr lang="es-ES"/>
              <a:pPr>
                <a:defRPr/>
              </a:pPr>
              <a:t>2/10/25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spcBef>
                <a:spcPct val="50000"/>
              </a:spcBef>
              <a:buClr>
                <a:srgbClr val="004186"/>
              </a:buClr>
              <a:buSzPct val="150000"/>
              <a:buFont typeface="CommonBullets" pitchFamily="34" charset="2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spcBef>
                <a:spcPct val="50000"/>
              </a:spcBef>
              <a:buClr>
                <a:srgbClr val="004186"/>
              </a:buClr>
              <a:buSzPct val="150000"/>
              <a:buFont typeface="CommonBullets" pitchFamily="34" charset="2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953249D-087E-4016-8A7F-6FD7671F649D}" type="slidenum">
              <a:rPr lang="es-ES"/>
              <a:pPr>
                <a:defRPr/>
              </a:pPr>
              <a:t>‹#›</a:t>
            </a:fld>
            <a:endParaRPr lang="es-E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79120" y="264163"/>
            <a:ext cx="9767361" cy="5276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Ingresos</a:t>
            </a:r>
          </a:p>
        </p:txBody>
      </p:sp>
      <p:pic>
        <p:nvPicPr>
          <p:cNvPr id="11" name="Picture 10" descr="2.jpg"/>
          <p:cNvPicPr/>
          <p:nvPr userDrawn="1"/>
        </p:nvPicPr>
        <p:blipFill>
          <a:blip r:embed="rId13"/>
          <a:stretch>
            <a:fillRect/>
          </a:stretch>
        </p:blipFill>
        <p:spPr>
          <a:xfrm>
            <a:off x="10485834" y="78086"/>
            <a:ext cx="1633728" cy="8997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6" r:id="rId3"/>
    <p:sldLayoutId id="2147483681" r:id="rId4"/>
    <p:sldLayoutId id="2147483680" r:id="rId5"/>
    <p:sldLayoutId id="2147483679" r:id="rId6"/>
    <p:sldLayoutId id="2147483678" r:id="rId7"/>
    <p:sldLayoutId id="2147483677" r:id="rId8"/>
    <p:sldLayoutId id="2147483676" r:id="rId9"/>
    <p:sldLayoutId id="2147483684" r:id="rId10"/>
    <p:sldLayoutId id="2147483687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rgbClr val="91004B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8B0F53"/>
        </a:buClr>
        <a:buSzPct val="70000"/>
        <a:buFont typeface="Wingdings 3" pitchFamily="18" charset="2"/>
        <a:buChar char="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8B0F53"/>
        </a:buClr>
        <a:buSzPct val="60000"/>
        <a:buFont typeface="Wingdings" pitchFamily="2" charset="2"/>
        <a:buChar char="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8B0F53"/>
        </a:buClr>
        <a:buSzPct val="80000"/>
        <a:buFont typeface="Calibri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rogramiz.com/python-programming/online-compiler/" TargetMode="Externa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hyperlink" Target="https://www.programiz.com/python-programming/online-compiler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hyperlink" Target="https://www.programiz.com/python-programming/online-compiler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ynative.com/python-exercises-with-solutions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3resource.com/python-exercises/puzzles/index.php" TargetMode="External"/><Relationship Id="rId4" Type="http://schemas.openxmlformats.org/officeDocument/2006/relationships/hyperlink" Target="https://www.kaggle.com/code/themlphdstudent/learn-numpy-numpy-50-exercises-and-solu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2407784" y="2535238"/>
            <a:ext cx="7822334" cy="889000"/>
          </a:xfrm>
          <a:prstGeom prst="rect">
            <a:avLst/>
          </a:prstGeom>
        </p:spPr>
        <p:txBody>
          <a:bodyPr/>
          <a:lstStyle/>
          <a:p>
            <a:r>
              <a:rPr lang="es-ES" sz="3600" dirty="0" err="1">
                <a:solidFill>
                  <a:srgbClr val="972B34"/>
                </a:solidFill>
              </a:rPr>
              <a:t>Introduction</a:t>
            </a:r>
            <a:r>
              <a:rPr lang="es-ES" sz="3600" dirty="0">
                <a:solidFill>
                  <a:srgbClr val="972B34"/>
                </a:solidFill>
              </a:rPr>
              <a:t> </a:t>
            </a:r>
            <a:r>
              <a:rPr lang="es-ES" sz="3600" dirty="0" err="1">
                <a:solidFill>
                  <a:srgbClr val="972B34"/>
                </a:solidFill>
              </a:rPr>
              <a:t>to</a:t>
            </a:r>
            <a:r>
              <a:rPr lang="es-ES" sz="3600" dirty="0">
                <a:solidFill>
                  <a:srgbClr val="972B34"/>
                </a:solidFill>
              </a:rPr>
              <a:t> Python</a:t>
            </a:r>
            <a:endParaRPr lang="es-ES_tradnl" sz="3600" dirty="0">
              <a:solidFill>
                <a:srgbClr val="972B34"/>
              </a:solidFill>
            </a:endParaRPr>
          </a:p>
        </p:txBody>
      </p:sp>
      <p:sp>
        <p:nvSpPr>
          <p:cNvPr id="637957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2407785" y="3791598"/>
            <a:ext cx="6518501" cy="1459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dirty="0">
                <a:solidFill>
                  <a:srgbClr val="404040"/>
                </a:solidFill>
              </a:rPr>
              <a:t>Dr. Idoia Ochoa</a:t>
            </a:r>
          </a:p>
          <a:p>
            <a:pPr marL="0" indent="0">
              <a:buNone/>
            </a:pPr>
            <a:r>
              <a:rPr lang="es-ES" sz="2000" dirty="0">
                <a:solidFill>
                  <a:srgbClr val="404040"/>
                </a:solidFill>
              </a:rPr>
              <a:t>Data </a:t>
            </a:r>
            <a:r>
              <a:rPr lang="es-ES" sz="2000" dirty="0" err="1">
                <a:solidFill>
                  <a:srgbClr val="404040"/>
                </a:solidFill>
              </a:rPr>
              <a:t>Science</a:t>
            </a:r>
            <a:endParaRPr lang="es-ES" sz="200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 err="1">
                <a:solidFill>
                  <a:srgbClr val="972B35"/>
                </a:solidFill>
              </a:rPr>
              <a:t>What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is</a:t>
            </a:r>
            <a:r>
              <a:rPr lang="es-ES" dirty="0">
                <a:solidFill>
                  <a:srgbClr val="972B35"/>
                </a:solidFill>
              </a:rPr>
              <a:t> Python?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0517E1-9706-4481-B8C7-4C8F7D0A1462}"/>
              </a:ext>
            </a:extLst>
          </p:cNvPr>
          <p:cNvSpPr txBox="1"/>
          <p:nvPr/>
        </p:nvSpPr>
        <p:spPr>
          <a:xfrm>
            <a:off x="655609" y="1588406"/>
            <a:ext cx="955674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High-level, general-purpose</a:t>
            </a:r>
            <a:r>
              <a:rPr lang="en-US" sz="1600" b="0" dirty="0"/>
              <a:t> programming language.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/>
              <a:t>Known for its simplicity and readability.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/>
              <a:t>Object-oriented.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/>
              <a:t>Interpreted approach (i.e., code executed line by line, rather than compiled).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/>
              <a:t>Dynamically typed, i.e., variable types are determined at runtime.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/>
              <a:t>Highly extensible, allowing integration with C, C++, Java...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/>
              <a:t>Large standard </a:t>
            </a:r>
            <a:r>
              <a:rPr lang="en-US" sz="1600" dirty="0"/>
              <a:t>library</a:t>
            </a:r>
            <a:r>
              <a:rPr lang="en-US" sz="1600" b="0" dirty="0"/>
              <a:t> that provides modules and functions for various tasks.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/>
              <a:t>Vibrant and active </a:t>
            </a:r>
            <a:r>
              <a:rPr lang="en-US" sz="1600" dirty="0"/>
              <a:t>community</a:t>
            </a:r>
            <a:r>
              <a:rPr lang="en-US" sz="1600" b="0" dirty="0"/>
              <a:t>, with lots of documentation, libraries, and frameworks available.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/>
              <a:t>Commonly used for </a:t>
            </a:r>
            <a:r>
              <a:rPr lang="en-US" sz="1600" dirty="0"/>
              <a:t>data analysis, machine learning (including deep learning), </a:t>
            </a:r>
            <a:r>
              <a:rPr lang="en-US" sz="1600" b="0" dirty="0"/>
              <a:t>web development,</a:t>
            </a:r>
            <a:r>
              <a:rPr lang="en-US" sz="1600" dirty="0"/>
              <a:t> </a:t>
            </a:r>
            <a:r>
              <a:rPr lang="en-US" sz="1600" b="0" dirty="0"/>
              <a:t>scientific computing, among other applications.</a:t>
            </a:r>
          </a:p>
        </p:txBody>
      </p:sp>
      <p:pic>
        <p:nvPicPr>
          <p:cNvPr id="1026" name="Picture 2" descr="Resultado de imagen de pyth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858" y="4750513"/>
            <a:ext cx="5724525" cy="193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447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 err="1">
                <a:solidFill>
                  <a:srgbClr val="972B35"/>
                </a:solidFill>
              </a:rPr>
              <a:t>What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is</a:t>
            </a:r>
            <a:r>
              <a:rPr lang="es-ES" dirty="0">
                <a:solidFill>
                  <a:srgbClr val="972B35"/>
                </a:solidFill>
              </a:rPr>
              <a:t> Python?</a:t>
            </a:r>
          </a:p>
        </p:txBody>
      </p:sp>
      <p:pic>
        <p:nvPicPr>
          <p:cNvPr id="1026" name="Picture 2" descr="Resultado de imagen de pyth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80" y="4472217"/>
            <a:ext cx="5724525" cy="193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Resultado de imagen de history of python">
            <a:extLst>
              <a:ext uri="{FF2B5EF4-FFF2-40B4-BE49-F238E27FC236}">
                <a16:creationId xmlns:a16="http://schemas.microsoft.com/office/drawing/2014/main" id="{25143CCD-CDCE-C4B2-B497-8A11D2065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784" y="1740693"/>
            <a:ext cx="3513873" cy="3376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2">
            <a:extLst>
              <a:ext uri="{FF2B5EF4-FFF2-40B4-BE49-F238E27FC236}">
                <a16:creationId xmlns:a16="http://schemas.microsoft.com/office/drawing/2014/main" id="{9ED349E9-1B3B-4EA5-4DFB-DAEB6BD0DB14}"/>
              </a:ext>
            </a:extLst>
          </p:cNvPr>
          <p:cNvSpPr txBox="1"/>
          <p:nvPr/>
        </p:nvSpPr>
        <p:spPr>
          <a:xfrm>
            <a:off x="794716" y="1970616"/>
            <a:ext cx="591034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1600" b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0" dirty="0" err="1"/>
              <a:t>Created</a:t>
            </a:r>
            <a:r>
              <a:rPr lang="es-ES" sz="1600" b="0" dirty="0"/>
              <a:t>  </a:t>
            </a:r>
            <a:r>
              <a:rPr lang="en-US" sz="1600" b="0" dirty="0"/>
              <a:t>by Guido van Rossum and first released in 1991</a:t>
            </a:r>
            <a:r>
              <a:rPr lang="es-ES" sz="1600" b="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0" dirty="0" err="1"/>
              <a:t>Named</a:t>
            </a:r>
            <a:r>
              <a:rPr lang="es-ES" sz="1600" b="0" dirty="0"/>
              <a:t> after British </a:t>
            </a:r>
            <a:r>
              <a:rPr lang="es-ES" sz="1600" b="0" dirty="0" err="1"/>
              <a:t>comedy</a:t>
            </a:r>
            <a:r>
              <a:rPr lang="es-ES" sz="1600" b="0" dirty="0"/>
              <a:t> show Monty Python.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0" dirty="0"/>
              <a:t>Big step up </a:t>
            </a:r>
            <a:r>
              <a:rPr lang="es-ES" sz="1600" b="0" dirty="0" err="1"/>
              <a:t>between</a:t>
            </a:r>
            <a:r>
              <a:rPr lang="es-ES" sz="1600" b="0" dirty="0"/>
              <a:t> </a:t>
            </a:r>
            <a:r>
              <a:rPr lang="es-ES" sz="1600" b="0" dirty="0" err="1"/>
              <a:t>versions</a:t>
            </a:r>
            <a:r>
              <a:rPr lang="es-ES" sz="1600" b="0" dirty="0"/>
              <a:t> 2 and 3. </a:t>
            </a:r>
            <a:r>
              <a:rPr lang="es-ES" sz="1600" b="0" dirty="0" err="1"/>
              <a:t>Last</a:t>
            </a:r>
            <a:r>
              <a:rPr lang="es-ES" sz="1600" b="0" dirty="0"/>
              <a:t> </a:t>
            </a:r>
            <a:r>
              <a:rPr lang="es-ES" sz="1600" b="0" dirty="0" err="1"/>
              <a:t>versions</a:t>
            </a:r>
            <a:r>
              <a:rPr lang="es-ES" sz="1600" b="0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600" b="0" dirty="0"/>
              <a:t>v2.7.16: 2019 (obsolete </a:t>
            </a:r>
            <a:r>
              <a:rPr lang="es-ES" sz="1600" b="0" dirty="0" err="1"/>
              <a:t>since</a:t>
            </a:r>
            <a:r>
              <a:rPr lang="es-ES" sz="1600" b="0" dirty="0"/>
              <a:t> </a:t>
            </a:r>
            <a:r>
              <a:rPr lang="es-ES" sz="1600" b="0" dirty="0" err="1"/>
              <a:t>January</a:t>
            </a:r>
            <a:r>
              <a:rPr lang="es-ES" sz="1600" b="0" dirty="0"/>
              <a:t> 2020).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600" b="0" dirty="0"/>
              <a:t>v3.14.x: </a:t>
            </a:r>
            <a:r>
              <a:rPr lang="es-ES" sz="1600" b="0" dirty="0" err="1"/>
              <a:t>latest</a:t>
            </a:r>
            <a:r>
              <a:rPr lang="es-ES" sz="1600" b="0" dirty="0"/>
              <a:t> </a:t>
            </a:r>
            <a:r>
              <a:rPr lang="es-ES" sz="1600" b="0" dirty="0" err="1"/>
              <a:t>version</a:t>
            </a:r>
            <a:endParaRPr lang="es-ES" sz="1600" b="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600" b="0" dirty="0"/>
              <a:t>https://</a:t>
            </a:r>
            <a:r>
              <a:rPr lang="es-ES" sz="1600" b="0" dirty="0" err="1"/>
              <a:t>www.python.org</a:t>
            </a:r>
            <a:r>
              <a:rPr lang="es-ES" sz="1600" b="0" dirty="0"/>
              <a:t>/</a:t>
            </a:r>
            <a:r>
              <a:rPr lang="es-ES" sz="1600" b="0" dirty="0" err="1"/>
              <a:t>downloads</a:t>
            </a:r>
            <a:r>
              <a:rPr lang="es-ES" sz="1600" b="0" dirty="0"/>
              <a:t>/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1600" b="0" dirty="0"/>
          </a:p>
        </p:txBody>
      </p:sp>
    </p:spTree>
    <p:extLst>
      <p:ext uri="{BB962C8B-B14F-4D97-AF65-F5344CB8AC3E}">
        <p14:creationId xmlns:p14="http://schemas.microsoft.com/office/powerpoint/2010/main" val="3493226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 err="1">
                <a:solidFill>
                  <a:srgbClr val="972B35"/>
                </a:solidFill>
              </a:rPr>
              <a:t>Options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to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work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with</a:t>
            </a:r>
            <a:r>
              <a:rPr lang="es-ES" dirty="0">
                <a:solidFill>
                  <a:srgbClr val="972B35"/>
                </a:solidFill>
              </a:rPr>
              <a:t> Python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0517E1-9706-4481-B8C7-4C8F7D0A1462}"/>
              </a:ext>
            </a:extLst>
          </p:cNvPr>
          <p:cNvSpPr txBox="1"/>
          <p:nvPr/>
        </p:nvSpPr>
        <p:spPr>
          <a:xfrm>
            <a:off x="5552947" y="1431383"/>
            <a:ext cx="55376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0" dirty="0"/>
              <a:t>“Open-</a:t>
            </a:r>
            <a:r>
              <a:rPr lang="es-ES" sz="1600" b="0" dirty="0" err="1"/>
              <a:t>source</a:t>
            </a:r>
            <a:r>
              <a:rPr lang="es-ES" sz="1600" b="0" dirty="0"/>
              <a:t>” </a:t>
            </a:r>
            <a:r>
              <a:rPr lang="es-ES" sz="1600" b="0" dirty="0" err="1"/>
              <a:t>distribution</a:t>
            </a:r>
            <a:r>
              <a:rPr lang="es-ES" sz="1600" b="0" dirty="0"/>
              <a:t> </a:t>
            </a:r>
            <a:r>
              <a:rPr lang="es-ES" sz="1600" b="0" dirty="0" err="1"/>
              <a:t>for</a:t>
            </a:r>
            <a:r>
              <a:rPr lang="es-ES" sz="1600" b="0" dirty="0"/>
              <a:t> Python and 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0" dirty="0" err="1"/>
              <a:t>Simplifies</a:t>
            </a:r>
            <a:r>
              <a:rPr lang="es-ES" sz="1600" b="0" dirty="0"/>
              <a:t> </a:t>
            </a:r>
            <a:r>
              <a:rPr lang="es-ES" sz="1600" b="0" dirty="0" err="1"/>
              <a:t>the</a:t>
            </a:r>
            <a:r>
              <a:rPr lang="es-ES" sz="1600" b="0" dirty="0"/>
              <a:t> </a:t>
            </a:r>
            <a:r>
              <a:rPr lang="es-ES" sz="1600" b="0" dirty="0" err="1"/>
              <a:t>installation</a:t>
            </a:r>
            <a:r>
              <a:rPr lang="es-ES" sz="1600" b="0" dirty="0"/>
              <a:t> and use </a:t>
            </a:r>
            <a:r>
              <a:rPr lang="es-ES" sz="1600" b="0" dirty="0" err="1"/>
              <a:t>of</a:t>
            </a:r>
            <a:r>
              <a:rPr lang="es-ES" sz="1600" b="0" dirty="0"/>
              <a:t> </a:t>
            </a:r>
            <a:r>
              <a:rPr lang="es-ES" sz="1600" b="0" dirty="0" err="1"/>
              <a:t>different</a:t>
            </a:r>
            <a:r>
              <a:rPr lang="es-ES" sz="1600" b="0" dirty="0"/>
              <a:t> </a:t>
            </a:r>
            <a:r>
              <a:rPr lang="es-ES" sz="1600" b="0" dirty="0" err="1"/>
              <a:t>libraries</a:t>
            </a:r>
            <a:r>
              <a:rPr lang="es-ES" sz="1600" b="0" dirty="0"/>
              <a:t> </a:t>
            </a:r>
            <a:r>
              <a:rPr lang="es-ES" sz="1600" b="0" dirty="0" err="1"/>
              <a:t>allowing</a:t>
            </a:r>
            <a:r>
              <a:rPr lang="es-ES" sz="1600" b="0" dirty="0"/>
              <a:t> </a:t>
            </a:r>
            <a:r>
              <a:rPr lang="es-ES" sz="1600" b="0" dirty="0" err="1"/>
              <a:t>for</a:t>
            </a:r>
            <a:r>
              <a:rPr lang="es-ES" sz="1600" b="0" dirty="0"/>
              <a:t> </a:t>
            </a:r>
            <a:r>
              <a:rPr lang="es-ES" sz="1600" b="0" dirty="0" err="1"/>
              <a:t>different</a:t>
            </a:r>
            <a:r>
              <a:rPr lang="es-ES" sz="1600" b="0" dirty="0"/>
              <a:t> </a:t>
            </a:r>
            <a:r>
              <a:rPr lang="es-ES" sz="1600" b="0" dirty="0" err="1"/>
              <a:t>workspaces</a:t>
            </a:r>
            <a:r>
              <a:rPr lang="es-ES" sz="1600" b="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0" dirty="0"/>
          </a:p>
        </p:txBody>
      </p:sp>
      <p:pic>
        <p:nvPicPr>
          <p:cNvPr id="2050" name="Picture 2" descr="Resultado de imagen de anaconda pyth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241" y="1327120"/>
            <a:ext cx="3252734" cy="162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155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 err="1">
                <a:solidFill>
                  <a:srgbClr val="972B35"/>
                </a:solidFill>
              </a:rPr>
              <a:t>Options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to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work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with</a:t>
            </a:r>
            <a:r>
              <a:rPr lang="es-ES" dirty="0">
                <a:solidFill>
                  <a:srgbClr val="972B35"/>
                </a:solidFill>
              </a:rPr>
              <a:t> Python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0517E1-9706-4481-B8C7-4C8F7D0A1462}"/>
              </a:ext>
            </a:extLst>
          </p:cNvPr>
          <p:cNvSpPr txBox="1"/>
          <p:nvPr/>
        </p:nvSpPr>
        <p:spPr>
          <a:xfrm>
            <a:off x="5552947" y="1431383"/>
            <a:ext cx="55376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0" dirty="0"/>
              <a:t>“Open-</a:t>
            </a:r>
            <a:r>
              <a:rPr lang="es-ES" sz="1600" b="0" dirty="0" err="1"/>
              <a:t>source</a:t>
            </a:r>
            <a:r>
              <a:rPr lang="es-ES" sz="1600" b="0" dirty="0"/>
              <a:t>” </a:t>
            </a:r>
            <a:r>
              <a:rPr lang="es-ES" sz="1600" b="0" dirty="0" err="1"/>
              <a:t>distribution</a:t>
            </a:r>
            <a:r>
              <a:rPr lang="es-ES" sz="1600" b="0" dirty="0"/>
              <a:t> </a:t>
            </a:r>
            <a:r>
              <a:rPr lang="es-ES" sz="1600" b="0" dirty="0" err="1"/>
              <a:t>for</a:t>
            </a:r>
            <a:r>
              <a:rPr lang="es-ES" sz="1600" b="0" dirty="0"/>
              <a:t> Python and 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0" dirty="0" err="1"/>
              <a:t>Simplifies</a:t>
            </a:r>
            <a:r>
              <a:rPr lang="es-ES" sz="1600" b="0" dirty="0"/>
              <a:t> </a:t>
            </a:r>
            <a:r>
              <a:rPr lang="es-ES" sz="1600" b="0" dirty="0" err="1"/>
              <a:t>the</a:t>
            </a:r>
            <a:r>
              <a:rPr lang="es-ES" sz="1600" b="0" dirty="0"/>
              <a:t> </a:t>
            </a:r>
            <a:r>
              <a:rPr lang="es-ES" sz="1600" b="0" dirty="0" err="1"/>
              <a:t>installation</a:t>
            </a:r>
            <a:r>
              <a:rPr lang="es-ES" sz="1600" b="0" dirty="0"/>
              <a:t> and use </a:t>
            </a:r>
            <a:r>
              <a:rPr lang="es-ES" sz="1600" b="0" dirty="0" err="1"/>
              <a:t>of</a:t>
            </a:r>
            <a:r>
              <a:rPr lang="es-ES" sz="1600" b="0" dirty="0"/>
              <a:t> </a:t>
            </a:r>
            <a:r>
              <a:rPr lang="es-ES" sz="1600" b="0" dirty="0" err="1"/>
              <a:t>different</a:t>
            </a:r>
            <a:r>
              <a:rPr lang="es-ES" sz="1600" b="0" dirty="0"/>
              <a:t> </a:t>
            </a:r>
            <a:r>
              <a:rPr lang="es-ES" sz="1600" b="0" dirty="0" err="1"/>
              <a:t>libraries</a:t>
            </a:r>
            <a:r>
              <a:rPr lang="es-ES" sz="1600" b="0" dirty="0"/>
              <a:t> </a:t>
            </a:r>
            <a:r>
              <a:rPr lang="es-ES" sz="1600" b="0" dirty="0" err="1"/>
              <a:t>supporting</a:t>
            </a:r>
            <a:r>
              <a:rPr lang="es-ES" sz="1600" b="0" dirty="0"/>
              <a:t> </a:t>
            </a:r>
            <a:r>
              <a:rPr lang="es-ES" sz="1600" b="0" dirty="0" err="1"/>
              <a:t>different</a:t>
            </a:r>
            <a:r>
              <a:rPr lang="es-ES" sz="1600" b="0" dirty="0"/>
              <a:t> </a:t>
            </a:r>
            <a:r>
              <a:rPr lang="es-ES" sz="1600" b="0" dirty="0" err="1"/>
              <a:t>workspaces</a:t>
            </a:r>
            <a:r>
              <a:rPr lang="es-ES" sz="1600" b="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0" dirty="0"/>
          </a:p>
        </p:txBody>
      </p:sp>
      <p:pic>
        <p:nvPicPr>
          <p:cNvPr id="2050" name="Picture 2" descr="Resultado de imagen de anaconda pyth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241" y="1327120"/>
            <a:ext cx="3252734" cy="162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2">
            <a:extLst>
              <a:ext uri="{FF2B5EF4-FFF2-40B4-BE49-F238E27FC236}">
                <a16:creationId xmlns:a16="http://schemas.microsoft.com/office/drawing/2014/main" id="{2F2D3C59-1F8C-43AA-D4A8-2C4D8EF44B7E}"/>
              </a:ext>
            </a:extLst>
          </p:cNvPr>
          <p:cNvSpPr txBox="1"/>
          <p:nvPr/>
        </p:nvSpPr>
        <p:spPr>
          <a:xfrm>
            <a:off x="468102" y="5852239"/>
            <a:ext cx="50848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/>
              <a:t>S</a:t>
            </a:r>
            <a:r>
              <a:rPr lang="es-ES" sz="1600" b="0" dirty="0" err="1"/>
              <a:t>cientific</a:t>
            </a:r>
            <a:r>
              <a:rPr lang="es-ES" sz="1600" b="0" dirty="0"/>
              <a:t> </a:t>
            </a:r>
            <a:r>
              <a:rPr lang="es-ES" sz="1600" dirty="0"/>
              <a:t>P</a:t>
            </a:r>
            <a:r>
              <a:rPr lang="es-ES" sz="1600" b="0" dirty="0"/>
              <a:t>ython </a:t>
            </a:r>
            <a:r>
              <a:rPr lang="es-ES" sz="1600" dirty="0" err="1"/>
              <a:t>D</a:t>
            </a:r>
            <a:r>
              <a:rPr lang="es-ES" sz="1600" b="0" dirty="0" err="1"/>
              <a:t>evelopment</a:t>
            </a:r>
            <a:r>
              <a:rPr lang="es-ES" sz="1600" b="0" dirty="0"/>
              <a:t> </a:t>
            </a:r>
            <a:r>
              <a:rPr lang="es-ES" sz="1600" dirty="0" err="1"/>
              <a:t>E</a:t>
            </a:r>
            <a:r>
              <a:rPr lang="es-ES" sz="1600" b="0" dirty="0" err="1"/>
              <a:t>nvi</a:t>
            </a:r>
            <a:r>
              <a:rPr lang="es-ES" sz="1600" dirty="0" err="1"/>
              <a:t>R</a:t>
            </a:r>
            <a:r>
              <a:rPr lang="es-ES" sz="1600" b="0" dirty="0" err="1"/>
              <a:t>onment</a:t>
            </a:r>
            <a:r>
              <a:rPr lang="es-ES" sz="1600" b="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0" dirty="0"/>
              <a:t>Similar </a:t>
            </a:r>
            <a:r>
              <a:rPr lang="es-ES" sz="1600" b="0" dirty="0" err="1"/>
              <a:t>environment</a:t>
            </a:r>
            <a:r>
              <a:rPr lang="es-ES" sz="1600" b="0" dirty="0"/>
              <a:t> </a:t>
            </a:r>
            <a:r>
              <a:rPr lang="es-ES" sz="1600" b="0" dirty="0" err="1"/>
              <a:t>to</a:t>
            </a:r>
            <a:r>
              <a:rPr lang="es-ES" sz="1600" b="0" dirty="0"/>
              <a:t> </a:t>
            </a:r>
            <a:r>
              <a:rPr lang="es-ES" sz="1600" b="0" dirty="0" err="1"/>
              <a:t>Rstudio</a:t>
            </a:r>
            <a:r>
              <a:rPr lang="es-ES" sz="1600" b="0" dirty="0"/>
              <a:t> and Matlab.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0" dirty="0"/>
          </a:p>
        </p:txBody>
      </p:sp>
      <p:pic>
        <p:nvPicPr>
          <p:cNvPr id="5" name="Picture 2" descr="Resultado de imagen de spyder python logo">
            <a:extLst>
              <a:ext uri="{FF2B5EF4-FFF2-40B4-BE49-F238E27FC236}">
                <a16:creationId xmlns:a16="http://schemas.microsoft.com/office/drawing/2014/main" id="{5CEED89B-1161-6290-76AB-23870C90F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713" y="3671940"/>
            <a:ext cx="1798719" cy="179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E607D421-2B48-D16B-7A3C-05E6A33A3AA2}"/>
              </a:ext>
            </a:extLst>
          </p:cNvPr>
          <p:cNvSpPr/>
          <p:nvPr/>
        </p:nvSpPr>
        <p:spPr>
          <a:xfrm rot="1885744">
            <a:off x="2953529" y="3147205"/>
            <a:ext cx="273805" cy="6678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57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 err="1">
                <a:solidFill>
                  <a:srgbClr val="972B35"/>
                </a:solidFill>
              </a:rPr>
              <a:t>How</a:t>
            </a:r>
            <a:r>
              <a:rPr lang="es-ES" dirty="0">
                <a:solidFill>
                  <a:srgbClr val="972B35"/>
                </a:solidFill>
              </a:rPr>
              <a:t> are </a:t>
            </a:r>
            <a:r>
              <a:rPr lang="es-ES" dirty="0" err="1">
                <a:solidFill>
                  <a:srgbClr val="972B35"/>
                </a:solidFill>
              </a:rPr>
              <a:t>we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going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to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work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with</a:t>
            </a:r>
            <a:r>
              <a:rPr lang="es-ES" dirty="0">
                <a:solidFill>
                  <a:srgbClr val="972B35"/>
                </a:solidFill>
              </a:rPr>
              <a:t> Python?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0517E1-9706-4481-B8C7-4C8F7D0A1462}"/>
              </a:ext>
            </a:extLst>
          </p:cNvPr>
          <p:cNvSpPr txBox="1"/>
          <p:nvPr/>
        </p:nvSpPr>
        <p:spPr>
          <a:xfrm>
            <a:off x="5552947" y="1431383"/>
            <a:ext cx="55376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0" dirty="0"/>
              <a:t>“Open-</a:t>
            </a:r>
            <a:r>
              <a:rPr lang="es-ES" sz="1600" b="0" dirty="0" err="1"/>
              <a:t>source</a:t>
            </a:r>
            <a:r>
              <a:rPr lang="es-ES" sz="1600" b="0" dirty="0"/>
              <a:t>” </a:t>
            </a:r>
            <a:r>
              <a:rPr lang="es-ES" sz="1600" b="0" dirty="0" err="1"/>
              <a:t>distribution</a:t>
            </a:r>
            <a:r>
              <a:rPr lang="es-ES" sz="1600" b="0" dirty="0"/>
              <a:t> </a:t>
            </a:r>
            <a:r>
              <a:rPr lang="es-ES" sz="1600" b="0" dirty="0" err="1"/>
              <a:t>for</a:t>
            </a:r>
            <a:r>
              <a:rPr lang="es-ES" sz="1600" b="0" dirty="0"/>
              <a:t> Python and 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0" dirty="0" err="1"/>
              <a:t>Simplifies</a:t>
            </a:r>
            <a:r>
              <a:rPr lang="es-ES" sz="1600" b="0" dirty="0"/>
              <a:t> </a:t>
            </a:r>
            <a:r>
              <a:rPr lang="es-ES" sz="1600" b="0" dirty="0" err="1"/>
              <a:t>the</a:t>
            </a:r>
            <a:r>
              <a:rPr lang="es-ES" sz="1600" b="0" dirty="0"/>
              <a:t> </a:t>
            </a:r>
            <a:r>
              <a:rPr lang="es-ES" sz="1600" b="0" dirty="0" err="1"/>
              <a:t>installation</a:t>
            </a:r>
            <a:r>
              <a:rPr lang="es-ES" sz="1600" b="0" dirty="0"/>
              <a:t> and use </a:t>
            </a:r>
            <a:r>
              <a:rPr lang="es-ES" sz="1600" b="0" dirty="0" err="1"/>
              <a:t>of</a:t>
            </a:r>
            <a:r>
              <a:rPr lang="es-ES" sz="1600" b="0" dirty="0"/>
              <a:t> </a:t>
            </a:r>
            <a:r>
              <a:rPr lang="es-ES" sz="1600" b="0" dirty="0" err="1"/>
              <a:t>different</a:t>
            </a:r>
            <a:r>
              <a:rPr lang="es-ES" sz="1600" b="0" dirty="0"/>
              <a:t> </a:t>
            </a:r>
            <a:r>
              <a:rPr lang="es-ES" sz="1600" b="0" dirty="0" err="1"/>
              <a:t>libraries</a:t>
            </a:r>
            <a:r>
              <a:rPr lang="es-ES" sz="1600" b="0" dirty="0"/>
              <a:t> </a:t>
            </a:r>
            <a:r>
              <a:rPr lang="es-ES" sz="1600" b="0" dirty="0" err="1"/>
              <a:t>allowing</a:t>
            </a:r>
            <a:r>
              <a:rPr lang="es-ES" sz="1600" b="0" dirty="0"/>
              <a:t> </a:t>
            </a:r>
            <a:r>
              <a:rPr lang="es-ES" sz="1600" b="0" dirty="0" err="1"/>
              <a:t>for</a:t>
            </a:r>
            <a:r>
              <a:rPr lang="es-ES" sz="1600" b="0" dirty="0"/>
              <a:t> </a:t>
            </a:r>
            <a:r>
              <a:rPr lang="es-ES" sz="1600" b="0" dirty="0" err="1"/>
              <a:t>different</a:t>
            </a:r>
            <a:r>
              <a:rPr lang="es-ES" sz="1600" b="0" dirty="0"/>
              <a:t> </a:t>
            </a:r>
            <a:r>
              <a:rPr lang="es-ES" sz="1600" b="0" dirty="0" err="1"/>
              <a:t>workspaces</a:t>
            </a:r>
            <a:r>
              <a:rPr lang="es-ES" sz="1600" b="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0" dirty="0"/>
          </a:p>
        </p:txBody>
      </p:sp>
      <p:pic>
        <p:nvPicPr>
          <p:cNvPr id="2050" name="Picture 2" descr="Resultado de imagen de anaconda pyth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241" y="1327120"/>
            <a:ext cx="3252734" cy="162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2">
            <a:extLst>
              <a:ext uri="{FF2B5EF4-FFF2-40B4-BE49-F238E27FC236}">
                <a16:creationId xmlns:a16="http://schemas.microsoft.com/office/drawing/2014/main" id="{2F2D3C59-1F8C-43AA-D4A8-2C4D8EF44B7E}"/>
              </a:ext>
            </a:extLst>
          </p:cNvPr>
          <p:cNvSpPr txBox="1"/>
          <p:nvPr/>
        </p:nvSpPr>
        <p:spPr>
          <a:xfrm>
            <a:off x="468102" y="5852239"/>
            <a:ext cx="50848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/>
              <a:t>S</a:t>
            </a:r>
            <a:r>
              <a:rPr lang="es-ES" sz="1600" b="0" dirty="0" err="1"/>
              <a:t>cientific</a:t>
            </a:r>
            <a:r>
              <a:rPr lang="es-ES" sz="1600" b="0" dirty="0"/>
              <a:t> </a:t>
            </a:r>
            <a:r>
              <a:rPr lang="es-ES" sz="1600" dirty="0"/>
              <a:t>Py</a:t>
            </a:r>
            <a:r>
              <a:rPr lang="es-ES" sz="1600" b="0" dirty="0"/>
              <a:t>thon </a:t>
            </a:r>
            <a:r>
              <a:rPr lang="es-ES" sz="1600" dirty="0" err="1"/>
              <a:t>D</a:t>
            </a:r>
            <a:r>
              <a:rPr lang="es-ES" sz="1600" b="0" dirty="0" err="1"/>
              <a:t>evelopment</a:t>
            </a:r>
            <a:r>
              <a:rPr lang="es-ES" sz="1600" b="0" dirty="0"/>
              <a:t> </a:t>
            </a:r>
            <a:r>
              <a:rPr lang="es-ES" sz="1600" dirty="0" err="1"/>
              <a:t>E</a:t>
            </a:r>
            <a:r>
              <a:rPr lang="es-ES" sz="1600" b="0" dirty="0" err="1"/>
              <a:t>nvi</a:t>
            </a:r>
            <a:r>
              <a:rPr lang="es-ES" sz="1600" dirty="0" err="1"/>
              <a:t>R</a:t>
            </a:r>
            <a:r>
              <a:rPr lang="es-ES" sz="1600" b="0" dirty="0" err="1"/>
              <a:t>onment</a:t>
            </a:r>
            <a:r>
              <a:rPr lang="es-ES" sz="1600" b="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0" dirty="0"/>
              <a:t>Similar </a:t>
            </a:r>
            <a:r>
              <a:rPr lang="es-ES" sz="1600" b="0" dirty="0" err="1"/>
              <a:t>environment</a:t>
            </a:r>
            <a:r>
              <a:rPr lang="es-ES" sz="1600" b="0" dirty="0"/>
              <a:t> </a:t>
            </a:r>
            <a:r>
              <a:rPr lang="es-ES" sz="1600" b="0" dirty="0" err="1"/>
              <a:t>to</a:t>
            </a:r>
            <a:r>
              <a:rPr lang="es-ES" sz="1600" b="0" dirty="0"/>
              <a:t> </a:t>
            </a:r>
            <a:r>
              <a:rPr lang="es-ES" sz="1600" b="0" dirty="0" err="1"/>
              <a:t>Rstudio</a:t>
            </a:r>
            <a:r>
              <a:rPr lang="es-ES" sz="1600" b="0" dirty="0"/>
              <a:t> and Matlab.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0" dirty="0"/>
              <a:t>File extensión: </a:t>
            </a:r>
            <a:r>
              <a:rPr lang="es-ES" sz="1600" dirty="0"/>
              <a:t>.</a:t>
            </a:r>
            <a:r>
              <a:rPr lang="es-ES" sz="1600" dirty="0" err="1"/>
              <a:t>py</a:t>
            </a: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0" dirty="0"/>
          </a:p>
        </p:txBody>
      </p:sp>
      <p:pic>
        <p:nvPicPr>
          <p:cNvPr id="5" name="Picture 2" descr="Resultado de imagen de spyder python logo">
            <a:extLst>
              <a:ext uri="{FF2B5EF4-FFF2-40B4-BE49-F238E27FC236}">
                <a16:creationId xmlns:a16="http://schemas.microsoft.com/office/drawing/2014/main" id="{5CEED89B-1161-6290-76AB-23870C90F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713" y="3671940"/>
            <a:ext cx="1798719" cy="179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2">
            <a:extLst>
              <a:ext uri="{FF2B5EF4-FFF2-40B4-BE49-F238E27FC236}">
                <a16:creationId xmlns:a16="http://schemas.microsoft.com/office/drawing/2014/main" id="{AB51C8EA-5244-1DB2-684D-C8D711CF5550}"/>
              </a:ext>
            </a:extLst>
          </p:cNvPr>
          <p:cNvSpPr txBox="1"/>
          <p:nvPr/>
        </p:nvSpPr>
        <p:spPr>
          <a:xfrm>
            <a:off x="5834810" y="5852238"/>
            <a:ext cx="5498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0" dirty="0"/>
              <a:t>Python (and R) open-</a:t>
            </a:r>
            <a:r>
              <a:rPr lang="es-ES" sz="1600" b="0" dirty="0" err="1"/>
              <a:t>source</a:t>
            </a:r>
            <a:r>
              <a:rPr lang="es-ES" sz="1600" b="0" dirty="0"/>
              <a:t> web </a:t>
            </a:r>
            <a:r>
              <a:rPr lang="es-ES" sz="1600" b="0" dirty="0" err="1"/>
              <a:t>application</a:t>
            </a:r>
            <a:endParaRPr lang="es-ES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0" dirty="0" err="1"/>
              <a:t>Create</a:t>
            </a:r>
            <a:r>
              <a:rPr lang="es-ES" sz="1600" b="0" dirty="0"/>
              <a:t> </a:t>
            </a:r>
            <a:r>
              <a:rPr lang="es-ES" sz="1600" b="0" dirty="0" err="1"/>
              <a:t>documents</a:t>
            </a:r>
            <a:r>
              <a:rPr lang="es-ES" sz="1600" b="0" dirty="0"/>
              <a:t>/notebooks </a:t>
            </a:r>
            <a:r>
              <a:rPr lang="es-ES" sz="1600" b="0" dirty="0" err="1"/>
              <a:t>with</a:t>
            </a:r>
            <a:r>
              <a:rPr lang="es-ES" sz="1600" b="0" dirty="0"/>
              <a:t> </a:t>
            </a:r>
            <a:r>
              <a:rPr lang="es-ES" sz="1600" b="0" dirty="0" err="1"/>
              <a:t>executable</a:t>
            </a:r>
            <a:r>
              <a:rPr lang="es-ES" sz="1600" b="0" dirty="0"/>
              <a:t> </a:t>
            </a:r>
            <a:r>
              <a:rPr lang="es-ES" sz="1600" b="0" dirty="0" err="1"/>
              <a:t>code</a:t>
            </a:r>
            <a:endParaRPr lang="es-ES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0" dirty="0"/>
              <a:t>File </a:t>
            </a:r>
            <a:r>
              <a:rPr lang="es-ES" sz="1600" b="0" dirty="0" err="1"/>
              <a:t>extension</a:t>
            </a:r>
            <a:r>
              <a:rPr lang="es-ES" sz="1600" b="0" dirty="0"/>
              <a:t>: </a:t>
            </a:r>
            <a:r>
              <a:rPr lang="es-ES" sz="1600" dirty="0"/>
              <a:t>.</a:t>
            </a:r>
            <a:r>
              <a:rPr lang="es-ES" sz="1600" dirty="0" err="1"/>
              <a:t>ipynb</a:t>
            </a:r>
            <a:endParaRPr lang="es-ES" sz="1600" dirty="0"/>
          </a:p>
        </p:txBody>
      </p:sp>
      <p:pic>
        <p:nvPicPr>
          <p:cNvPr id="7" name="Picture 2" descr="Resultado de imagen de jupyter notebook logo">
            <a:extLst>
              <a:ext uri="{FF2B5EF4-FFF2-40B4-BE49-F238E27FC236}">
                <a16:creationId xmlns:a16="http://schemas.microsoft.com/office/drawing/2014/main" id="{93A30D7E-73A2-992B-4487-3FB40B17C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716" y="3542723"/>
            <a:ext cx="1798759" cy="208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E607D421-2B48-D16B-7A3C-05E6A33A3AA2}"/>
              </a:ext>
            </a:extLst>
          </p:cNvPr>
          <p:cNvSpPr/>
          <p:nvPr/>
        </p:nvSpPr>
        <p:spPr>
          <a:xfrm rot="1885744">
            <a:off x="2953529" y="3147205"/>
            <a:ext cx="273805" cy="6678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69754053-B643-FB99-DBCB-1CCCF19F2ADB}"/>
              </a:ext>
            </a:extLst>
          </p:cNvPr>
          <p:cNvSpPr/>
          <p:nvPr/>
        </p:nvSpPr>
        <p:spPr>
          <a:xfrm rot="17803280">
            <a:off x="5744490" y="2269052"/>
            <a:ext cx="273805" cy="29171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5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>
                <a:solidFill>
                  <a:srgbClr val="972B35"/>
                </a:solidFill>
              </a:rPr>
              <a:t>Anaconda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361" y="1333889"/>
            <a:ext cx="8932432" cy="48384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895600" y="2215221"/>
            <a:ext cx="655320" cy="330173"/>
          </a:xfrm>
          <a:prstGeom prst="ellipse">
            <a:avLst/>
          </a:prstGeom>
          <a:noFill/>
          <a:ln>
            <a:solidFill>
              <a:srgbClr val="972B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noFill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09950" y="2436986"/>
            <a:ext cx="2819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972B34"/>
                </a:solidFill>
              </a:rPr>
              <a:t>1</a:t>
            </a:r>
          </a:p>
        </p:txBody>
      </p:sp>
      <p:pic>
        <p:nvPicPr>
          <p:cNvPr id="8" name="Picture 2" descr="Resultado de imagen de anaconda pyth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945188"/>
            <a:ext cx="1346200" cy="67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74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>
                <a:solidFill>
                  <a:srgbClr val="972B35"/>
                </a:solidFill>
              </a:rPr>
              <a:t>Anaconda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800" y="1335600"/>
            <a:ext cx="8932431" cy="48384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850640" y="5776029"/>
            <a:ext cx="327660" cy="330173"/>
          </a:xfrm>
          <a:prstGeom prst="ellipse">
            <a:avLst/>
          </a:prstGeom>
          <a:noFill/>
          <a:ln>
            <a:solidFill>
              <a:srgbClr val="972B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noFill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7175" y="6004458"/>
            <a:ext cx="2819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972B34"/>
                </a:solidFill>
              </a:rPr>
              <a:t>2</a:t>
            </a:r>
          </a:p>
        </p:txBody>
      </p:sp>
      <p:pic>
        <p:nvPicPr>
          <p:cNvPr id="7" name="Picture 2" descr="Resultado de imagen de anaconda pyth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945188"/>
            <a:ext cx="1346200" cy="67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1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>
                <a:solidFill>
                  <a:srgbClr val="972B35"/>
                </a:solidFill>
              </a:rPr>
              <a:t>Anaconda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2157412"/>
            <a:ext cx="4572000" cy="254317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467600" y="4109944"/>
            <a:ext cx="731519" cy="423956"/>
          </a:xfrm>
          <a:prstGeom prst="ellipse">
            <a:avLst/>
          </a:prstGeom>
          <a:noFill/>
          <a:ln>
            <a:solidFill>
              <a:srgbClr val="972B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noFill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8620" y="3943257"/>
            <a:ext cx="2819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972B34"/>
                </a:solidFill>
              </a:rPr>
              <a:t>3</a:t>
            </a:r>
          </a:p>
        </p:txBody>
      </p:sp>
      <p:pic>
        <p:nvPicPr>
          <p:cNvPr id="9" name="Picture 2" descr="Resultado de imagen de anaconda pyth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945188"/>
            <a:ext cx="1346200" cy="67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41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>
                <a:solidFill>
                  <a:srgbClr val="972B35"/>
                </a:solidFill>
              </a:rPr>
              <a:t>Anaconda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800" y="1335600"/>
            <a:ext cx="8932431" cy="48384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245099" y="1860965"/>
            <a:ext cx="1016635" cy="330173"/>
          </a:xfrm>
          <a:prstGeom prst="ellipse">
            <a:avLst/>
          </a:prstGeom>
          <a:noFill/>
          <a:ln>
            <a:solidFill>
              <a:srgbClr val="972B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noFill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0764" y="1669549"/>
            <a:ext cx="2819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972B34"/>
                </a:solidFill>
              </a:rPr>
              <a:t>4</a:t>
            </a:r>
          </a:p>
        </p:txBody>
      </p:sp>
      <p:pic>
        <p:nvPicPr>
          <p:cNvPr id="8" name="Picture 2" descr="Resultado de imagen de anaconda pyth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945188"/>
            <a:ext cx="1346200" cy="67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49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>
                <a:solidFill>
                  <a:srgbClr val="972B35"/>
                </a:solidFill>
              </a:rPr>
              <a:t>Anaconda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800" y="1335600"/>
            <a:ext cx="8932431" cy="48384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037704" y="1855250"/>
            <a:ext cx="1016635" cy="330173"/>
          </a:xfrm>
          <a:prstGeom prst="ellipse">
            <a:avLst/>
          </a:prstGeom>
          <a:noFill/>
          <a:ln>
            <a:solidFill>
              <a:srgbClr val="972B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noFill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13369" y="1663834"/>
            <a:ext cx="2819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972B34"/>
                </a:solidFill>
              </a:rPr>
              <a:t>5</a:t>
            </a:r>
          </a:p>
        </p:txBody>
      </p:sp>
      <p:pic>
        <p:nvPicPr>
          <p:cNvPr id="8" name="Picture 2" descr="Resultado de imagen de anaconda pyth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945188"/>
            <a:ext cx="1346200" cy="67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45232" y="2026803"/>
            <a:ext cx="20807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0" dirty="0"/>
              <a:t>Modules: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800" b="0" dirty="0" err="1"/>
              <a:t>matplotlib</a:t>
            </a:r>
            <a:endParaRPr lang="es-ES" sz="1800" b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800" b="0" dirty="0"/>
              <a:t>notebook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800" b="0" dirty="0" err="1"/>
              <a:t>numpy</a:t>
            </a:r>
            <a:endParaRPr lang="es-ES" sz="1800" b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800" b="0" dirty="0"/>
              <a:t>pandas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800" b="0" dirty="0" err="1"/>
              <a:t>scipy</a:t>
            </a:r>
            <a:endParaRPr lang="es-ES" sz="1800" b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800" b="0" dirty="0" err="1"/>
              <a:t>spyder</a:t>
            </a:r>
            <a:endParaRPr lang="es-ES" sz="1800" b="0" dirty="0"/>
          </a:p>
        </p:txBody>
      </p:sp>
    </p:spTree>
    <p:extLst>
      <p:ext uri="{BB962C8B-B14F-4D97-AF65-F5344CB8AC3E}">
        <p14:creationId xmlns:p14="http://schemas.microsoft.com/office/powerpoint/2010/main" val="200073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>
                <a:solidFill>
                  <a:srgbClr val="972B35"/>
                </a:solidFill>
              </a:rPr>
              <a:t>Anaconda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800" y="1335600"/>
            <a:ext cx="8932431" cy="48384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980420" y="5859780"/>
            <a:ext cx="486541" cy="278305"/>
          </a:xfrm>
          <a:prstGeom prst="ellipse">
            <a:avLst/>
          </a:prstGeom>
          <a:noFill/>
          <a:ln>
            <a:solidFill>
              <a:srgbClr val="972B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noFill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595" y="5614328"/>
            <a:ext cx="2819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972B34"/>
                </a:solidFill>
              </a:rPr>
              <a:t>6</a:t>
            </a:r>
          </a:p>
        </p:txBody>
      </p:sp>
      <p:pic>
        <p:nvPicPr>
          <p:cNvPr id="7" name="Picture 2" descr="Resultado de imagen de anaconda pyth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945188"/>
            <a:ext cx="1346200" cy="67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45232" y="2026803"/>
            <a:ext cx="20807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0" dirty="0"/>
              <a:t>Modules: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800" b="0" dirty="0" err="1"/>
              <a:t>matplotlib</a:t>
            </a:r>
            <a:endParaRPr lang="es-ES" sz="1800" b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800" b="0" dirty="0"/>
              <a:t>notebook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800" b="0" dirty="0" err="1"/>
              <a:t>numpy</a:t>
            </a:r>
            <a:endParaRPr lang="es-ES" sz="1800" b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800" b="0" dirty="0"/>
              <a:t>pandas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800" b="0" dirty="0" err="1"/>
              <a:t>scipy</a:t>
            </a:r>
            <a:endParaRPr lang="es-ES" sz="1800" b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800" b="0" dirty="0" err="1"/>
              <a:t>spyder</a:t>
            </a:r>
            <a:endParaRPr lang="es-ES" sz="1800" b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800" b="0" dirty="0" err="1"/>
              <a:t>seaborn</a:t>
            </a:r>
            <a:endParaRPr lang="es-ES" sz="1800" b="0" dirty="0"/>
          </a:p>
        </p:txBody>
      </p:sp>
    </p:spTree>
    <p:extLst>
      <p:ext uri="{BB962C8B-B14F-4D97-AF65-F5344CB8AC3E}">
        <p14:creationId xmlns:p14="http://schemas.microsoft.com/office/powerpoint/2010/main" val="99835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>
                <a:solidFill>
                  <a:srgbClr val="972B35"/>
                </a:solidFill>
              </a:rPr>
              <a:t>Anaconda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262" y="1443037"/>
            <a:ext cx="4943475" cy="397192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493014" y="4825302"/>
            <a:ext cx="915363" cy="401934"/>
          </a:xfrm>
          <a:prstGeom prst="ellipse">
            <a:avLst/>
          </a:prstGeom>
          <a:noFill/>
          <a:ln>
            <a:solidFill>
              <a:srgbClr val="972B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noFill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06117" y="4637576"/>
            <a:ext cx="2819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972B34"/>
                </a:solidFill>
              </a:rPr>
              <a:t>7</a:t>
            </a:r>
          </a:p>
        </p:txBody>
      </p:sp>
      <p:pic>
        <p:nvPicPr>
          <p:cNvPr id="8" name="Picture 2" descr="Resultado de imagen de anaconda pyth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945188"/>
            <a:ext cx="1346200" cy="67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7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>
                <a:solidFill>
                  <a:srgbClr val="972B35"/>
                </a:solidFill>
              </a:rPr>
              <a:t>Anaconda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800" y="1335600"/>
            <a:ext cx="8932431" cy="4838400"/>
          </a:xfrm>
          <a:prstGeom prst="rect">
            <a:avLst/>
          </a:prstGeom>
        </p:spPr>
      </p:pic>
      <p:pic>
        <p:nvPicPr>
          <p:cNvPr id="5" name="Picture 2" descr="Resultado de imagen de anaconda pyth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945188"/>
            <a:ext cx="1346200" cy="67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331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>
                <a:solidFill>
                  <a:srgbClr val="972B35"/>
                </a:solidFill>
              </a:rPr>
              <a:t>Anaconda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40067" b="3876"/>
          <a:stretch/>
        </p:blipFill>
        <p:spPr>
          <a:xfrm>
            <a:off x="2836800" y="1335599"/>
            <a:ext cx="8938424" cy="4838400"/>
          </a:xfrm>
          <a:prstGeom prst="rect">
            <a:avLst/>
          </a:prstGeom>
        </p:spPr>
      </p:pic>
      <p:pic>
        <p:nvPicPr>
          <p:cNvPr id="6" name="Picture 2" descr="Resultado de imagen de anaconda pyth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945188"/>
            <a:ext cx="1346200" cy="67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633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 err="1">
                <a:solidFill>
                  <a:srgbClr val="972B35"/>
                </a:solidFill>
              </a:rPr>
              <a:t>Jupyter</a:t>
            </a:r>
            <a:r>
              <a:rPr lang="es-ES" dirty="0">
                <a:solidFill>
                  <a:srgbClr val="972B35"/>
                </a:solidFill>
              </a:rPr>
              <a:t> Notebook in Anaconda</a:t>
            </a:r>
          </a:p>
        </p:txBody>
      </p:sp>
      <p:pic>
        <p:nvPicPr>
          <p:cNvPr id="5" name="Picture 2" descr="Resultado de imagen de jupyter notebook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" y="5653617"/>
            <a:ext cx="898525" cy="104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0B824B1-9211-2EC1-D318-8ED72D069A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910" y="1271993"/>
            <a:ext cx="8899311" cy="484745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4D3D108-C041-E3F4-BCC1-302E53F7CF6C}"/>
              </a:ext>
            </a:extLst>
          </p:cNvPr>
          <p:cNvSpPr/>
          <p:nvPr/>
        </p:nvSpPr>
        <p:spPr>
          <a:xfrm>
            <a:off x="3594253" y="4624335"/>
            <a:ext cx="915363" cy="401934"/>
          </a:xfrm>
          <a:prstGeom prst="ellipse">
            <a:avLst/>
          </a:prstGeom>
          <a:noFill/>
          <a:ln>
            <a:solidFill>
              <a:srgbClr val="972B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noFill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5D8423-D784-6738-7EE8-2120257E635F}"/>
              </a:ext>
            </a:extLst>
          </p:cNvPr>
          <p:cNvSpPr/>
          <p:nvPr/>
        </p:nvSpPr>
        <p:spPr>
          <a:xfrm>
            <a:off x="3136571" y="1750507"/>
            <a:ext cx="3324519" cy="401934"/>
          </a:xfrm>
          <a:prstGeom prst="ellipse">
            <a:avLst/>
          </a:prstGeom>
          <a:noFill/>
          <a:ln>
            <a:solidFill>
              <a:srgbClr val="972B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83917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1CF88-8007-322F-02C4-18779862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8627E-86D8-903A-287C-75F48FB93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 err="1">
                <a:solidFill>
                  <a:srgbClr val="972B35"/>
                </a:solidFill>
              </a:rPr>
              <a:t>Jupyter</a:t>
            </a:r>
            <a:r>
              <a:rPr lang="es-ES" dirty="0">
                <a:solidFill>
                  <a:srgbClr val="972B35"/>
                </a:solidFill>
              </a:rPr>
              <a:t> Notebook</a:t>
            </a:r>
          </a:p>
        </p:txBody>
      </p:sp>
      <p:pic>
        <p:nvPicPr>
          <p:cNvPr id="5" name="Picture 2" descr="Resultado de imagen de jupyter notebook logo">
            <a:extLst>
              <a:ext uri="{FF2B5EF4-FFF2-40B4-BE49-F238E27FC236}">
                <a16:creationId xmlns:a16="http://schemas.microsoft.com/office/drawing/2014/main" id="{799DACCD-C2DA-9F83-741D-23D6AB14D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" y="5653617"/>
            <a:ext cx="898525" cy="104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6A4770-FEA7-5D8F-CB17-F13C6E332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800" y="1335600"/>
            <a:ext cx="8932429" cy="48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84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 err="1">
                <a:solidFill>
                  <a:srgbClr val="972B35"/>
                </a:solidFill>
              </a:rPr>
              <a:t>Jupyter</a:t>
            </a:r>
            <a:r>
              <a:rPr lang="es-ES" dirty="0">
                <a:solidFill>
                  <a:srgbClr val="972B35"/>
                </a:solidFill>
              </a:rPr>
              <a:t> Notebook </a:t>
            </a:r>
            <a:r>
              <a:rPr lang="es-ES" dirty="0" err="1">
                <a:solidFill>
                  <a:srgbClr val="972B35"/>
                </a:solidFill>
              </a:rPr>
              <a:t>with</a:t>
            </a:r>
            <a:r>
              <a:rPr lang="es-ES" dirty="0">
                <a:solidFill>
                  <a:srgbClr val="972B35"/>
                </a:solidFill>
              </a:rPr>
              <a:t> Google </a:t>
            </a:r>
            <a:r>
              <a:rPr lang="es-ES" dirty="0" err="1">
                <a:solidFill>
                  <a:srgbClr val="972B35"/>
                </a:solidFill>
              </a:rPr>
              <a:t>Colab</a:t>
            </a:r>
            <a:endParaRPr lang="es-ES" dirty="0">
              <a:solidFill>
                <a:srgbClr val="972B35"/>
              </a:solidFill>
            </a:endParaRPr>
          </a:p>
        </p:txBody>
      </p:sp>
      <p:pic>
        <p:nvPicPr>
          <p:cNvPr id="5" name="Picture 2" descr="Resultado de imagen de jupyter notebook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586" y="1998178"/>
            <a:ext cx="1654280" cy="191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oogle Colaboratory Colab - Guía Completa Español - Marketing Branding">
            <a:extLst>
              <a:ext uri="{FF2B5EF4-FFF2-40B4-BE49-F238E27FC236}">
                <a16:creationId xmlns:a16="http://schemas.microsoft.com/office/drawing/2014/main" id="{5CA9CD61-50CC-3511-42C3-43FFB9BF8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715" y="1332257"/>
            <a:ext cx="4300285" cy="2861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D7CC38A-379D-952C-B7DB-4EE769FCB469}"/>
              </a:ext>
            </a:extLst>
          </p:cNvPr>
          <p:cNvSpPr txBox="1"/>
          <p:nvPr/>
        </p:nvSpPr>
        <p:spPr>
          <a:xfrm>
            <a:off x="1495105" y="4694746"/>
            <a:ext cx="68637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0" dirty="0"/>
              <a:t>Run and </a:t>
            </a:r>
            <a:r>
              <a:rPr lang="es-ES" sz="1600" b="0" dirty="0" err="1"/>
              <a:t>create</a:t>
            </a:r>
            <a:r>
              <a:rPr lang="es-ES" sz="1600" b="0" dirty="0"/>
              <a:t> </a:t>
            </a:r>
            <a:r>
              <a:rPr lang="es-ES" sz="1600" b="0" dirty="0" err="1"/>
              <a:t>Jupyter</a:t>
            </a:r>
            <a:r>
              <a:rPr lang="es-ES" sz="1600" b="0" dirty="0"/>
              <a:t> Notebooks </a:t>
            </a:r>
            <a:r>
              <a:rPr lang="es-ES" sz="1600" b="0" dirty="0" err="1"/>
              <a:t>directly</a:t>
            </a:r>
            <a:r>
              <a:rPr lang="es-ES" sz="1600" b="0" dirty="0"/>
              <a:t> </a:t>
            </a:r>
            <a:r>
              <a:rPr lang="es-ES" sz="1600" b="0" dirty="0" err="1"/>
              <a:t>on</a:t>
            </a:r>
            <a:r>
              <a:rPr lang="es-ES" sz="1600" b="0" dirty="0"/>
              <a:t> </a:t>
            </a:r>
            <a:r>
              <a:rPr lang="es-ES" sz="1600" b="0" dirty="0" err="1"/>
              <a:t>the</a:t>
            </a:r>
            <a:r>
              <a:rPr lang="es-ES" sz="1600" b="0" dirty="0"/>
              <a:t> </a:t>
            </a:r>
            <a:r>
              <a:rPr lang="es-ES" sz="1600" b="0" dirty="0" err="1"/>
              <a:t>cloud</a:t>
            </a:r>
            <a:r>
              <a:rPr lang="es-ES" sz="1600" b="0" dirty="0"/>
              <a:t> (online!)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0" dirty="0"/>
              <a:t>Easy </a:t>
            </a:r>
            <a:r>
              <a:rPr lang="es-ES" sz="1600" b="0" dirty="0" err="1"/>
              <a:t>to</a:t>
            </a:r>
            <a:r>
              <a:rPr lang="es-ES" sz="1600" b="0" dirty="0"/>
              <a:t> link </a:t>
            </a:r>
            <a:r>
              <a:rPr lang="es-ES" sz="1600" b="0" dirty="0" err="1"/>
              <a:t>to</a:t>
            </a:r>
            <a:r>
              <a:rPr lang="es-ES" sz="1600" b="0" dirty="0"/>
              <a:t> Google Drive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0" dirty="0" err="1"/>
              <a:t>Simplifies</a:t>
            </a:r>
            <a:r>
              <a:rPr lang="es-ES" sz="1600" b="0" dirty="0"/>
              <a:t> </a:t>
            </a:r>
            <a:r>
              <a:rPr lang="es-ES" sz="1600" b="0" dirty="0" err="1"/>
              <a:t>the</a:t>
            </a:r>
            <a:r>
              <a:rPr lang="es-ES" sz="1600" b="0" dirty="0"/>
              <a:t> </a:t>
            </a:r>
            <a:r>
              <a:rPr lang="es-ES" sz="1600" b="0" dirty="0" err="1"/>
              <a:t>installation</a:t>
            </a:r>
            <a:r>
              <a:rPr lang="es-ES" sz="1600" b="0" dirty="0"/>
              <a:t> and use </a:t>
            </a:r>
            <a:r>
              <a:rPr lang="es-ES" sz="1600" b="0" dirty="0" err="1"/>
              <a:t>of</a:t>
            </a:r>
            <a:r>
              <a:rPr lang="es-ES" sz="1600" b="0" dirty="0"/>
              <a:t> </a:t>
            </a:r>
            <a:r>
              <a:rPr lang="es-ES" sz="1600" b="0" dirty="0" err="1"/>
              <a:t>different</a:t>
            </a:r>
            <a:r>
              <a:rPr lang="es-ES" sz="1600" b="0" dirty="0"/>
              <a:t> </a:t>
            </a:r>
            <a:r>
              <a:rPr lang="es-ES" sz="1600" b="0" dirty="0" err="1"/>
              <a:t>libraries</a:t>
            </a:r>
            <a:r>
              <a:rPr lang="es-ES" sz="1600" b="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/>
              <a:t>What</a:t>
            </a:r>
            <a:r>
              <a:rPr lang="es-ES" sz="1600" dirty="0"/>
              <a:t> </a:t>
            </a:r>
            <a:r>
              <a:rPr lang="es-ES" sz="1600" dirty="0" err="1"/>
              <a:t>we</a:t>
            </a:r>
            <a:r>
              <a:rPr lang="es-ES" sz="1600" dirty="0"/>
              <a:t> </a:t>
            </a:r>
            <a:r>
              <a:rPr lang="es-ES" sz="1600" dirty="0" err="1"/>
              <a:t>will</a:t>
            </a:r>
            <a:r>
              <a:rPr lang="es-ES" sz="1600" dirty="0"/>
              <a:t> use in </a:t>
            </a:r>
            <a:r>
              <a:rPr lang="es-ES" sz="1600" dirty="0" err="1"/>
              <a:t>class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2447321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800" y="1335600"/>
            <a:ext cx="8932431" cy="4838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>
                <a:solidFill>
                  <a:srgbClr val="972B35"/>
                </a:solidFill>
              </a:rPr>
              <a:t>Spyder</a:t>
            </a:r>
          </a:p>
        </p:txBody>
      </p:sp>
      <p:pic>
        <p:nvPicPr>
          <p:cNvPr id="5" name="Picture 2" descr="Resultado de imagen de spyder python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08" y="5593307"/>
            <a:ext cx="1161381" cy="1161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663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 err="1">
                <a:solidFill>
                  <a:srgbClr val="972B35"/>
                </a:solidFill>
              </a:rPr>
              <a:t>Other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programs</a:t>
            </a:r>
            <a:r>
              <a:rPr lang="es-ES" dirty="0">
                <a:solidFill>
                  <a:srgbClr val="972B35"/>
                </a:solidFill>
              </a:rPr>
              <a:t> &amp; </a:t>
            </a:r>
            <a:r>
              <a:rPr lang="es-ES" dirty="0" err="1">
                <a:solidFill>
                  <a:srgbClr val="972B35"/>
                </a:solidFill>
              </a:rPr>
              <a:t>resources</a:t>
            </a:r>
            <a:endParaRPr lang="es-ES" dirty="0">
              <a:solidFill>
                <a:srgbClr val="972B35"/>
              </a:solidFill>
            </a:endParaRPr>
          </a:p>
        </p:txBody>
      </p:sp>
      <p:pic>
        <p:nvPicPr>
          <p:cNvPr id="2050" name="Picture 2" descr="Microsoft Apps">
            <a:extLst>
              <a:ext uri="{FF2B5EF4-FFF2-40B4-BE49-F238E27FC236}">
                <a16:creationId xmlns:a16="http://schemas.microsoft.com/office/drawing/2014/main" id="{31BB7315-50F1-6945-164A-F605A6611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06" y="1920737"/>
            <a:ext cx="2054915" cy="2054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ython Tool Review: Using PyCharm for Python Development - and More |  Caktus Group">
            <a:extLst>
              <a:ext uri="{FF2B5EF4-FFF2-40B4-BE49-F238E27FC236}">
                <a16:creationId xmlns:a16="http://schemas.microsoft.com/office/drawing/2014/main" id="{1CC51ECA-5CE6-CC99-1A6B-33874B4B7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101" y="1920737"/>
            <a:ext cx="1766681" cy="1766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39 comandos básicos para dar tus primeros pasos en el Terminal de macOS">
            <a:extLst>
              <a:ext uri="{FF2B5EF4-FFF2-40B4-BE49-F238E27FC236}">
                <a16:creationId xmlns:a16="http://schemas.microsoft.com/office/drawing/2014/main" id="{461D1D74-9261-257B-C1D6-A1A27F7BC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791" y="1888985"/>
            <a:ext cx="2781829" cy="1926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3D42AE-0498-1632-FCB6-96EAD3EE5C32}"/>
              </a:ext>
            </a:extLst>
          </p:cNvPr>
          <p:cNvSpPr txBox="1"/>
          <p:nvPr/>
        </p:nvSpPr>
        <p:spPr>
          <a:xfrm>
            <a:off x="1133061" y="4283765"/>
            <a:ext cx="2156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 Studio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3A844-E628-6706-3CD5-52E5A1CF6DB8}"/>
              </a:ext>
            </a:extLst>
          </p:cNvPr>
          <p:cNvSpPr txBox="1"/>
          <p:nvPr/>
        </p:nvSpPr>
        <p:spPr>
          <a:xfrm>
            <a:off x="4333045" y="4283765"/>
            <a:ext cx="2156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PyCharm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8A5B6-5907-6D1A-304A-794CEFCE2B21}"/>
              </a:ext>
            </a:extLst>
          </p:cNvPr>
          <p:cNvSpPr txBox="1"/>
          <p:nvPr/>
        </p:nvSpPr>
        <p:spPr>
          <a:xfrm>
            <a:off x="7606332" y="4283765"/>
            <a:ext cx="2156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Terminal</a:t>
            </a:r>
          </a:p>
        </p:txBody>
      </p:sp>
    </p:spTree>
    <p:extLst>
      <p:ext uri="{BB962C8B-B14F-4D97-AF65-F5344CB8AC3E}">
        <p14:creationId xmlns:p14="http://schemas.microsoft.com/office/powerpoint/2010/main" val="3755884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 err="1">
                <a:solidFill>
                  <a:srgbClr val="972B35"/>
                </a:solidFill>
              </a:rPr>
              <a:t>Other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programs</a:t>
            </a:r>
            <a:r>
              <a:rPr lang="es-ES" dirty="0">
                <a:solidFill>
                  <a:srgbClr val="972B35"/>
                </a:solidFill>
              </a:rPr>
              <a:t> &amp; </a:t>
            </a:r>
            <a:r>
              <a:rPr lang="es-ES" dirty="0" err="1">
                <a:solidFill>
                  <a:srgbClr val="972B35"/>
                </a:solidFill>
              </a:rPr>
              <a:t>resources</a:t>
            </a:r>
            <a:endParaRPr lang="es-ES" dirty="0">
              <a:solidFill>
                <a:srgbClr val="972B35"/>
              </a:solidFill>
            </a:endParaRPr>
          </a:p>
        </p:txBody>
      </p:sp>
      <p:pic>
        <p:nvPicPr>
          <p:cNvPr id="2050" name="Picture 2" descr="Microsoft Apps">
            <a:extLst>
              <a:ext uri="{FF2B5EF4-FFF2-40B4-BE49-F238E27FC236}">
                <a16:creationId xmlns:a16="http://schemas.microsoft.com/office/drawing/2014/main" id="{31BB7315-50F1-6945-164A-F605A6611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06" y="1920737"/>
            <a:ext cx="2054915" cy="2054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ython Tool Review: Using PyCharm for Python Development - and More |  Caktus Group">
            <a:extLst>
              <a:ext uri="{FF2B5EF4-FFF2-40B4-BE49-F238E27FC236}">
                <a16:creationId xmlns:a16="http://schemas.microsoft.com/office/drawing/2014/main" id="{1CC51ECA-5CE6-CC99-1A6B-33874B4B7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101" y="1920737"/>
            <a:ext cx="1766681" cy="1766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39 comandos básicos para dar tus primeros pasos en el Terminal de macOS">
            <a:extLst>
              <a:ext uri="{FF2B5EF4-FFF2-40B4-BE49-F238E27FC236}">
                <a16:creationId xmlns:a16="http://schemas.microsoft.com/office/drawing/2014/main" id="{461D1D74-9261-257B-C1D6-A1A27F7BC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791" y="1888985"/>
            <a:ext cx="2781829" cy="1926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3D42AE-0498-1632-FCB6-96EAD3EE5C32}"/>
              </a:ext>
            </a:extLst>
          </p:cNvPr>
          <p:cNvSpPr txBox="1"/>
          <p:nvPr/>
        </p:nvSpPr>
        <p:spPr>
          <a:xfrm>
            <a:off x="1133061" y="4283765"/>
            <a:ext cx="2156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 Studio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3A844-E628-6706-3CD5-52E5A1CF6DB8}"/>
              </a:ext>
            </a:extLst>
          </p:cNvPr>
          <p:cNvSpPr txBox="1"/>
          <p:nvPr/>
        </p:nvSpPr>
        <p:spPr>
          <a:xfrm>
            <a:off x="4333045" y="4283765"/>
            <a:ext cx="2156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PyCharm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8A5B6-5907-6D1A-304A-794CEFCE2B21}"/>
              </a:ext>
            </a:extLst>
          </p:cNvPr>
          <p:cNvSpPr txBox="1"/>
          <p:nvPr/>
        </p:nvSpPr>
        <p:spPr>
          <a:xfrm>
            <a:off x="7606332" y="4283765"/>
            <a:ext cx="2156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Terminal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451043-116D-DEF2-9377-8D8AFFA4F1DC}"/>
              </a:ext>
            </a:extLst>
          </p:cNvPr>
          <p:cNvSpPr txBox="1"/>
          <p:nvPr/>
        </p:nvSpPr>
        <p:spPr>
          <a:xfrm>
            <a:off x="787928" y="5518551"/>
            <a:ext cx="60976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effectLst/>
                <a:latin typeface="Slack-Lato"/>
                <a:hlinkClick r:id="rId6"/>
              </a:rPr>
              <a:t>https://www.programiz.com/python-programming/online-compiler/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0EB1F4-2173-399A-CDDA-97FE3FA23C23}"/>
              </a:ext>
            </a:extLst>
          </p:cNvPr>
          <p:cNvSpPr txBox="1"/>
          <p:nvPr/>
        </p:nvSpPr>
        <p:spPr>
          <a:xfrm>
            <a:off x="787928" y="5220935"/>
            <a:ext cx="2156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Programiz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270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 err="1">
                <a:solidFill>
                  <a:srgbClr val="972B35"/>
                </a:solidFill>
              </a:rPr>
              <a:t>Other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programs</a:t>
            </a:r>
            <a:r>
              <a:rPr lang="es-ES" dirty="0">
                <a:solidFill>
                  <a:srgbClr val="972B35"/>
                </a:solidFill>
              </a:rPr>
              <a:t> &amp; </a:t>
            </a:r>
            <a:r>
              <a:rPr lang="es-ES" dirty="0" err="1">
                <a:solidFill>
                  <a:srgbClr val="972B35"/>
                </a:solidFill>
              </a:rPr>
              <a:t>resources</a:t>
            </a:r>
            <a:endParaRPr lang="es-ES" dirty="0">
              <a:solidFill>
                <a:srgbClr val="972B35"/>
              </a:solidFill>
            </a:endParaRPr>
          </a:p>
        </p:txBody>
      </p:sp>
      <p:pic>
        <p:nvPicPr>
          <p:cNvPr id="2050" name="Picture 2" descr="Microsoft Apps">
            <a:extLst>
              <a:ext uri="{FF2B5EF4-FFF2-40B4-BE49-F238E27FC236}">
                <a16:creationId xmlns:a16="http://schemas.microsoft.com/office/drawing/2014/main" id="{31BB7315-50F1-6945-164A-F605A6611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06" y="1920737"/>
            <a:ext cx="2054915" cy="2054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hatGPT Spanish (Español) - Sin Registro | OpenAI">
            <a:extLst>
              <a:ext uri="{FF2B5EF4-FFF2-40B4-BE49-F238E27FC236}">
                <a16:creationId xmlns:a16="http://schemas.microsoft.com/office/drawing/2014/main" id="{8733C82E-A1D3-3DC0-F14D-3996809CC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091" y="5367129"/>
            <a:ext cx="3036981" cy="887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ython Tool Review: Using PyCharm for Python Development - and More |  Caktus Group">
            <a:extLst>
              <a:ext uri="{FF2B5EF4-FFF2-40B4-BE49-F238E27FC236}">
                <a16:creationId xmlns:a16="http://schemas.microsoft.com/office/drawing/2014/main" id="{1CC51ECA-5CE6-CC99-1A6B-33874B4B7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101" y="1920737"/>
            <a:ext cx="1766681" cy="1766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39 comandos básicos para dar tus primeros pasos en el Terminal de macOS">
            <a:extLst>
              <a:ext uri="{FF2B5EF4-FFF2-40B4-BE49-F238E27FC236}">
                <a16:creationId xmlns:a16="http://schemas.microsoft.com/office/drawing/2014/main" id="{461D1D74-9261-257B-C1D6-A1A27F7BC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791" y="1888985"/>
            <a:ext cx="2781829" cy="1926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3D42AE-0498-1632-FCB6-96EAD3EE5C32}"/>
              </a:ext>
            </a:extLst>
          </p:cNvPr>
          <p:cNvSpPr txBox="1"/>
          <p:nvPr/>
        </p:nvSpPr>
        <p:spPr>
          <a:xfrm>
            <a:off x="1133061" y="4283765"/>
            <a:ext cx="2156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 Studio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3A844-E628-6706-3CD5-52E5A1CF6DB8}"/>
              </a:ext>
            </a:extLst>
          </p:cNvPr>
          <p:cNvSpPr txBox="1"/>
          <p:nvPr/>
        </p:nvSpPr>
        <p:spPr>
          <a:xfrm>
            <a:off x="4333045" y="4283765"/>
            <a:ext cx="2156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PyCharm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8A5B6-5907-6D1A-304A-794CEFCE2B21}"/>
              </a:ext>
            </a:extLst>
          </p:cNvPr>
          <p:cNvSpPr txBox="1"/>
          <p:nvPr/>
        </p:nvSpPr>
        <p:spPr>
          <a:xfrm>
            <a:off x="7606332" y="4283765"/>
            <a:ext cx="2156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Terminal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451043-116D-DEF2-9377-8D8AFFA4F1DC}"/>
              </a:ext>
            </a:extLst>
          </p:cNvPr>
          <p:cNvSpPr txBox="1"/>
          <p:nvPr/>
        </p:nvSpPr>
        <p:spPr>
          <a:xfrm>
            <a:off x="776082" y="5529048"/>
            <a:ext cx="60976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effectLst/>
                <a:latin typeface="+mn-lt"/>
                <a:hlinkClick r:id="rId7"/>
              </a:rPr>
              <a:t>https://www.programiz.com/python-programming/online-compiler/</a:t>
            </a:r>
            <a:endParaRPr lang="en-US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0EB1F4-2173-399A-CDDA-97FE3FA23C23}"/>
              </a:ext>
            </a:extLst>
          </p:cNvPr>
          <p:cNvSpPr txBox="1"/>
          <p:nvPr/>
        </p:nvSpPr>
        <p:spPr>
          <a:xfrm>
            <a:off x="787928" y="5220935"/>
            <a:ext cx="2156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Programiz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396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3ABB8-94AD-A650-608E-176673C57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6D76D-0311-8344-2D0A-8283B3A8F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 err="1">
                <a:solidFill>
                  <a:srgbClr val="972B35"/>
                </a:solidFill>
              </a:rPr>
              <a:t>Other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programs</a:t>
            </a:r>
            <a:r>
              <a:rPr lang="es-ES" dirty="0">
                <a:solidFill>
                  <a:srgbClr val="972B35"/>
                </a:solidFill>
              </a:rPr>
              <a:t> &amp; </a:t>
            </a:r>
            <a:r>
              <a:rPr lang="es-ES" dirty="0" err="1">
                <a:solidFill>
                  <a:srgbClr val="972B35"/>
                </a:solidFill>
              </a:rPr>
              <a:t>resources</a:t>
            </a:r>
            <a:endParaRPr lang="es-ES" dirty="0">
              <a:solidFill>
                <a:srgbClr val="972B35"/>
              </a:solidFill>
            </a:endParaRPr>
          </a:p>
        </p:txBody>
      </p:sp>
      <p:pic>
        <p:nvPicPr>
          <p:cNvPr id="2050" name="Picture 2" descr="Microsoft Apps">
            <a:extLst>
              <a:ext uri="{FF2B5EF4-FFF2-40B4-BE49-F238E27FC236}">
                <a16:creationId xmlns:a16="http://schemas.microsoft.com/office/drawing/2014/main" id="{D9BFCF90-0BD0-5E63-A2F4-12D5C22D8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06" y="1920737"/>
            <a:ext cx="2054915" cy="2054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hatGPT Spanish (Español) - Sin Registro | OpenAI">
            <a:extLst>
              <a:ext uri="{FF2B5EF4-FFF2-40B4-BE49-F238E27FC236}">
                <a16:creationId xmlns:a16="http://schemas.microsoft.com/office/drawing/2014/main" id="{2C9A1713-68F1-6758-8C13-965F8711A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091" y="5367129"/>
            <a:ext cx="3036981" cy="887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ython Tool Review: Using PyCharm for Python Development - and More |  Caktus Group">
            <a:extLst>
              <a:ext uri="{FF2B5EF4-FFF2-40B4-BE49-F238E27FC236}">
                <a16:creationId xmlns:a16="http://schemas.microsoft.com/office/drawing/2014/main" id="{E353126F-9E2D-FA7A-B891-239442D1C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101" y="1920737"/>
            <a:ext cx="1766681" cy="1766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39 comandos básicos para dar tus primeros pasos en el Terminal de macOS">
            <a:extLst>
              <a:ext uri="{FF2B5EF4-FFF2-40B4-BE49-F238E27FC236}">
                <a16:creationId xmlns:a16="http://schemas.microsoft.com/office/drawing/2014/main" id="{A4CEEC07-ED2F-D00B-931D-5EAB12DB0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791" y="1888985"/>
            <a:ext cx="2781829" cy="1926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157AD5-E017-4B71-A2F2-986B9224DC07}"/>
              </a:ext>
            </a:extLst>
          </p:cNvPr>
          <p:cNvSpPr txBox="1"/>
          <p:nvPr/>
        </p:nvSpPr>
        <p:spPr>
          <a:xfrm>
            <a:off x="1133061" y="4283765"/>
            <a:ext cx="2156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 Studio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FD5BB-FF1A-64AC-FEB8-C6358E69CF7C}"/>
              </a:ext>
            </a:extLst>
          </p:cNvPr>
          <p:cNvSpPr txBox="1"/>
          <p:nvPr/>
        </p:nvSpPr>
        <p:spPr>
          <a:xfrm>
            <a:off x="4333045" y="4283765"/>
            <a:ext cx="2156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PyCharm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82CD5-4E0D-053B-D4D7-AAF6FEA5C394}"/>
              </a:ext>
            </a:extLst>
          </p:cNvPr>
          <p:cNvSpPr txBox="1"/>
          <p:nvPr/>
        </p:nvSpPr>
        <p:spPr>
          <a:xfrm>
            <a:off x="7606332" y="4283765"/>
            <a:ext cx="2156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Terminal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510C1F-F41F-7A95-1624-B1A33DD82CD8}"/>
              </a:ext>
            </a:extLst>
          </p:cNvPr>
          <p:cNvSpPr txBox="1"/>
          <p:nvPr/>
        </p:nvSpPr>
        <p:spPr>
          <a:xfrm>
            <a:off x="776082" y="5529048"/>
            <a:ext cx="60976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effectLst/>
                <a:latin typeface="+mn-lt"/>
                <a:hlinkClick r:id="rId7"/>
              </a:rPr>
              <a:t>https://www.programiz.com/python-programming/online-compiler/</a:t>
            </a:r>
            <a:endParaRPr lang="en-US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BF0AF6-6B0E-0C73-064A-760D294F0DEF}"/>
              </a:ext>
            </a:extLst>
          </p:cNvPr>
          <p:cNvSpPr txBox="1"/>
          <p:nvPr/>
        </p:nvSpPr>
        <p:spPr>
          <a:xfrm>
            <a:off x="787928" y="5220935"/>
            <a:ext cx="2156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Programiz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511405D-BF94-BFFA-770C-361DF233B780}"/>
              </a:ext>
            </a:extLst>
          </p:cNvPr>
          <p:cNvSpPr/>
          <p:nvPr/>
        </p:nvSpPr>
        <p:spPr>
          <a:xfrm>
            <a:off x="2730234" y="2325273"/>
            <a:ext cx="5645426" cy="22661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E4A3F7-22A3-426E-779B-7DEF0CAB249A}"/>
              </a:ext>
            </a:extLst>
          </p:cNvPr>
          <p:cNvSpPr txBox="1"/>
          <p:nvPr/>
        </p:nvSpPr>
        <p:spPr>
          <a:xfrm>
            <a:off x="3289852" y="2815532"/>
            <a:ext cx="44129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/>
              <a:t>Combined with HPC Server to run highly demanding jobs</a:t>
            </a:r>
          </a:p>
        </p:txBody>
      </p:sp>
    </p:spTree>
    <p:extLst>
      <p:ext uri="{BB962C8B-B14F-4D97-AF65-F5344CB8AC3E}">
        <p14:creationId xmlns:p14="http://schemas.microsoft.com/office/powerpoint/2010/main" val="3498830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09" y="452207"/>
            <a:ext cx="9794677" cy="528638"/>
          </a:xfrm>
        </p:spPr>
        <p:txBody>
          <a:bodyPr/>
          <a:lstStyle/>
          <a:p>
            <a:r>
              <a:rPr lang="es-ES" dirty="0" err="1">
                <a:solidFill>
                  <a:srgbClr val="972B35"/>
                </a:solidFill>
              </a:rPr>
              <a:t>Sample</a:t>
            </a:r>
            <a:r>
              <a:rPr lang="es-ES" dirty="0">
                <a:solidFill>
                  <a:srgbClr val="972B35"/>
                </a:solidFill>
              </a:rPr>
              <a:t> </a:t>
            </a:r>
            <a:r>
              <a:rPr lang="es-ES" dirty="0" err="1">
                <a:solidFill>
                  <a:srgbClr val="972B35"/>
                </a:solidFill>
              </a:rPr>
              <a:t>exercises</a:t>
            </a:r>
            <a:endParaRPr lang="es-ES" dirty="0">
              <a:solidFill>
                <a:srgbClr val="972B35"/>
              </a:solidFill>
            </a:endParaRP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2D2618CC-F236-877F-4CAD-4049CAA21BB4}"/>
              </a:ext>
            </a:extLst>
          </p:cNvPr>
          <p:cNvSpPr txBox="1"/>
          <p:nvPr/>
        </p:nvSpPr>
        <p:spPr>
          <a:xfrm>
            <a:off x="655609" y="1659983"/>
            <a:ext cx="101382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b="0" dirty="0">
                <a:hlinkClick r:id="rId3"/>
              </a:rPr>
              <a:t>https://pynative.com/python-exercises-with-solutions/</a:t>
            </a:r>
            <a:endParaRPr lang="es-ES" sz="1600" b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b="0" dirty="0">
                <a:hlinkClick r:id="rId4"/>
              </a:rPr>
              <a:t>https://www.kaggle.com/code/themlphdstudent/learn-numpy-numpy-50-exercises-and-solution</a:t>
            </a:r>
            <a:endParaRPr lang="es-ES" sz="1600" b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b="0" dirty="0">
                <a:hlinkClick r:id="rId5"/>
              </a:rPr>
              <a:t>https://www.w3resource.com/python-exercises/puzzles/index.php</a:t>
            </a:r>
            <a:endParaRPr lang="es-ES" sz="1600" b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b="0" dirty="0"/>
              <a:t>https://</a:t>
            </a:r>
            <a:r>
              <a:rPr lang="es-ES" sz="1600" b="0" dirty="0" err="1"/>
              <a:t>www.geeksforgeeks.org</a:t>
            </a:r>
            <a:r>
              <a:rPr lang="es-ES" sz="1600" b="0" dirty="0"/>
              <a:t>/</a:t>
            </a:r>
            <a:r>
              <a:rPr lang="es-ES" sz="1600" b="0" dirty="0" err="1"/>
              <a:t>python</a:t>
            </a:r>
            <a:r>
              <a:rPr lang="es-ES" sz="1600" b="0" dirty="0"/>
              <a:t>-</a:t>
            </a:r>
            <a:r>
              <a:rPr lang="es-ES" sz="1600" b="0" dirty="0" err="1"/>
              <a:t>exercises</a:t>
            </a:r>
            <a:r>
              <a:rPr lang="es-ES" sz="1600" b="0" dirty="0"/>
              <a:t>-</a:t>
            </a:r>
            <a:r>
              <a:rPr lang="es-ES" sz="1600" b="0" dirty="0" err="1"/>
              <a:t>practice</a:t>
            </a:r>
            <a:r>
              <a:rPr lang="es-ES" sz="1600" b="0" dirty="0"/>
              <a:t>-</a:t>
            </a:r>
            <a:r>
              <a:rPr lang="es-ES" sz="1600" b="0" dirty="0" err="1"/>
              <a:t>questions</a:t>
            </a:r>
            <a:r>
              <a:rPr lang="es-ES" sz="1600" b="0" dirty="0"/>
              <a:t>-and-</a:t>
            </a:r>
            <a:r>
              <a:rPr lang="es-ES" sz="1600" b="0" dirty="0" err="1"/>
              <a:t>solutions</a:t>
            </a:r>
            <a:r>
              <a:rPr lang="es-ES" sz="1600" b="0" dirty="0"/>
              <a:t>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b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0" dirty="0"/>
          </a:p>
        </p:txBody>
      </p:sp>
    </p:spTree>
    <p:extLst>
      <p:ext uri="{BB962C8B-B14F-4D97-AF65-F5344CB8AC3E}">
        <p14:creationId xmlns:p14="http://schemas.microsoft.com/office/powerpoint/2010/main" val="2069152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50351</TotalTime>
  <Words>549</Words>
  <Application>Microsoft Macintosh PowerPoint</Application>
  <PresentationFormat>Widescreen</PresentationFormat>
  <Paragraphs>137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Times New Roman</vt:lpstr>
      <vt:lpstr>CommonBullets</vt:lpstr>
      <vt:lpstr>Wingdings 3</vt:lpstr>
      <vt:lpstr>Calibri</vt:lpstr>
      <vt:lpstr>Wingdings</vt:lpstr>
      <vt:lpstr>Slack-Lato</vt:lpstr>
      <vt:lpstr>Office Theme</vt:lpstr>
      <vt:lpstr>Introduction to Python</vt:lpstr>
      <vt:lpstr>What is Python?</vt:lpstr>
      <vt:lpstr>What is Python?</vt:lpstr>
      <vt:lpstr>Options to work with Python</vt:lpstr>
      <vt:lpstr>Options to work with Python</vt:lpstr>
      <vt:lpstr>How are we going to work with Python?</vt:lpstr>
      <vt:lpstr>Anaconda</vt:lpstr>
      <vt:lpstr>Anaconda</vt:lpstr>
      <vt:lpstr>Anaconda</vt:lpstr>
      <vt:lpstr>Anaconda</vt:lpstr>
      <vt:lpstr>Anaconda</vt:lpstr>
      <vt:lpstr>Anaconda</vt:lpstr>
      <vt:lpstr>Anaconda</vt:lpstr>
      <vt:lpstr>Anaconda</vt:lpstr>
      <vt:lpstr>Anaconda</vt:lpstr>
      <vt:lpstr>Jupyter Notebook in Anaconda</vt:lpstr>
      <vt:lpstr>Jupyter Notebook</vt:lpstr>
      <vt:lpstr>Jupyter Notebook with Google Colab</vt:lpstr>
      <vt:lpstr>Spyder</vt:lpstr>
      <vt:lpstr>Other programs &amp; resources</vt:lpstr>
      <vt:lpstr>Other programs &amp; resources</vt:lpstr>
      <vt:lpstr>Other programs &amp; resources</vt:lpstr>
      <vt:lpstr>Other programs &amp; resources</vt:lpstr>
      <vt:lpstr>Sample exercises</vt:lpstr>
    </vt:vector>
  </TitlesOfParts>
  <Company>TECNUN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Gil, Jorge Juan</dc:creator>
  <cp:lastModifiedBy>Idoia Ochoa Alvarez</cp:lastModifiedBy>
  <cp:revision>1797</cp:revision>
  <cp:lastPrinted>2013-11-25T07:11:58Z</cp:lastPrinted>
  <dcterms:created xsi:type="dcterms:W3CDTF">2000-02-25T18:06:18Z</dcterms:created>
  <dcterms:modified xsi:type="dcterms:W3CDTF">2025-10-02T07:03:11Z</dcterms:modified>
</cp:coreProperties>
</file>